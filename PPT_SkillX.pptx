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4284" y="1528952"/>
            <a:ext cx="661543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0395" y="2330856"/>
            <a:ext cx="7775575" cy="3126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.png"/><Relationship Id="rId7" Type="http://schemas.openxmlformats.org/officeDocument/2006/relationships/image" Target="../media/image33.png"/><Relationship Id="rId8" Type="http://schemas.openxmlformats.org/officeDocument/2006/relationships/image" Target="../media/image4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095250"/>
            <a:ext cx="9144000" cy="763270"/>
          </a:xfrm>
          <a:custGeom>
            <a:avLst/>
            <a:gdLst/>
            <a:ahLst/>
            <a:cxnLst/>
            <a:rect l="l" t="t" r="r" b="b"/>
            <a:pathLst>
              <a:path w="9144000" h="763270">
                <a:moveTo>
                  <a:pt x="9144000" y="0"/>
                </a:moveTo>
                <a:lnTo>
                  <a:pt x="0" y="0"/>
                </a:lnTo>
                <a:lnTo>
                  <a:pt x="0" y="762749"/>
                </a:lnTo>
                <a:lnTo>
                  <a:pt x="9144000" y="762749"/>
                </a:lnTo>
                <a:lnTo>
                  <a:pt x="9144000" y="0"/>
                </a:lnTo>
                <a:close/>
              </a:path>
            </a:pathLst>
          </a:custGeom>
          <a:solidFill>
            <a:srgbClr val="B4C6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2016125"/>
            </a:xfrm>
            <a:custGeom>
              <a:avLst/>
              <a:gdLst/>
              <a:ahLst/>
              <a:cxnLst/>
              <a:rect l="l" t="t" r="r" b="b"/>
              <a:pathLst>
                <a:path w="9144000" h="2016125">
                  <a:moveTo>
                    <a:pt x="9144000" y="0"/>
                  </a:moveTo>
                  <a:lnTo>
                    <a:pt x="0" y="0"/>
                  </a:lnTo>
                  <a:lnTo>
                    <a:pt x="0" y="2015744"/>
                  </a:lnTo>
                  <a:lnTo>
                    <a:pt x="9144000" y="20157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4C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15756"/>
              <a:ext cx="9143999" cy="484223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6094780"/>
              <a:ext cx="9144000" cy="12700"/>
            </a:xfrm>
            <a:custGeom>
              <a:avLst/>
              <a:gdLst/>
              <a:ahLst/>
              <a:cxnLst/>
              <a:rect l="l" t="t" r="r" b="b"/>
              <a:pathLst>
                <a:path w="9144000" h="12700">
                  <a:moveTo>
                    <a:pt x="9144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144000" y="1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610994" y="1359788"/>
            <a:ext cx="4826000" cy="1306195"/>
          </a:xfrm>
          <a:prstGeom prst="rect"/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  <a:tabLst>
                <a:tab pos="4812665" algn="l"/>
              </a:tabLst>
            </a:pPr>
            <a:r>
              <a:rPr dirty="0" u="none"/>
              <a:t>QUIZ</a:t>
            </a:r>
            <a:r>
              <a:rPr dirty="0" u="none" spc="-55"/>
              <a:t> </a:t>
            </a:r>
            <a:r>
              <a:rPr dirty="0" u="none" spc="-20"/>
              <a:t>GAME </a:t>
            </a:r>
            <a:r>
              <a:rPr dirty="0" spc="-10"/>
              <a:t>PROJECT</a:t>
            </a:r>
            <a:r>
              <a:rPr dirty="0"/>
              <a:t>	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4579" y="254152"/>
            <a:ext cx="1029931" cy="90891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590547" y="2892319"/>
            <a:ext cx="7359015" cy="389953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530"/>
              </a:spcBef>
            </a:pPr>
            <a:r>
              <a:rPr dirty="0" sz="1400" spc="85" b="1">
                <a:latin typeface="Trebuchet MS"/>
                <a:cs typeface="Trebuchet MS"/>
              </a:rPr>
              <a:t>PRESENTED</a:t>
            </a:r>
            <a:r>
              <a:rPr dirty="0" sz="1400" spc="15" b="1">
                <a:latin typeface="Trebuchet MS"/>
                <a:cs typeface="Trebuchet MS"/>
              </a:rPr>
              <a:t> </a:t>
            </a:r>
            <a:r>
              <a:rPr dirty="0" sz="1200" spc="45" b="1">
                <a:latin typeface="Trebuchet MS"/>
                <a:cs typeface="Trebuchet MS"/>
              </a:rPr>
              <a:t>BY: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800" spc="-25">
                <a:latin typeface="Wingdings"/>
                <a:cs typeface="Wingdings"/>
              </a:rPr>
              <a:t>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90" b="1">
                <a:latin typeface="Trebuchet MS"/>
                <a:cs typeface="Trebuchet MS"/>
              </a:rPr>
              <a:t>SHUCHISMITA</a:t>
            </a:r>
            <a:r>
              <a:rPr dirty="0" sz="1800" spc="150" b="1">
                <a:latin typeface="Trebuchet MS"/>
                <a:cs typeface="Trebuchet MS"/>
              </a:rPr>
              <a:t> </a:t>
            </a:r>
            <a:r>
              <a:rPr dirty="0" sz="1800" spc="95" b="1">
                <a:latin typeface="Trebuchet MS"/>
                <a:cs typeface="Trebuchet MS"/>
              </a:rPr>
              <a:t>BASU</a:t>
            </a:r>
            <a:r>
              <a:rPr dirty="0" sz="1800" spc="290" b="1">
                <a:latin typeface="Trebuchet MS"/>
                <a:cs typeface="Trebuchet MS"/>
              </a:rPr>
              <a:t> </a:t>
            </a:r>
            <a:r>
              <a:rPr dirty="0" sz="1800" spc="110" b="1">
                <a:latin typeface="Trebuchet MS"/>
                <a:cs typeface="Trebuchet MS"/>
              </a:rPr>
              <a:t>(25CS2011111)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Wingdings"/>
                <a:cs typeface="Wingdings"/>
              </a:rPr>
              <a:t>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80" b="1">
                <a:latin typeface="Trebuchet MS"/>
                <a:cs typeface="Trebuchet MS"/>
              </a:rPr>
              <a:t>PRAPTI</a:t>
            </a:r>
            <a:r>
              <a:rPr dirty="0" sz="1800" spc="204" b="1">
                <a:latin typeface="Trebuchet MS"/>
                <a:cs typeface="Trebuchet MS"/>
              </a:rPr>
              <a:t> </a:t>
            </a:r>
            <a:r>
              <a:rPr dirty="0" sz="1800" spc="80" b="1">
                <a:latin typeface="Trebuchet MS"/>
                <a:cs typeface="Trebuchet MS"/>
              </a:rPr>
              <a:t>BANERJEE</a:t>
            </a:r>
            <a:r>
              <a:rPr dirty="0" sz="1800" spc="210" b="1">
                <a:latin typeface="Trebuchet MS"/>
                <a:cs typeface="Trebuchet MS"/>
              </a:rPr>
              <a:t> </a:t>
            </a:r>
            <a:r>
              <a:rPr dirty="0" sz="1800" spc="80" b="1">
                <a:latin typeface="Trebuchet MS"/>
                <a:cs typeface="Trebuchet MS"/>
              </a:rPr>
              <a:t>(25CS2011071)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25">
                <a:latin typeface="Wingdings"/>
                <a:cs typeface="Wingdings"/>
              </a:rPr>
              <a:t></a:t>
            </a:r>
            <a:r>
              <a:rPr dirty="0" sz="1800" spc="-120">
                <a:latin typeface="Times New Roman"/>
                <a:cs typeface="Times New Roman"/>
              </a:rPr>
              <a:t> </a:t>
            </a:r>
            <a:r>
              <a:rPr dirty="0" sz="1800" spc="70" b="1">
                <a:latin typeface="Trebuchet MS"/>
                <a:cs typeface="Trebuchet MS"/>
              </a:rPr>
              <a:t>NILAY</a:t>
            </a:r>
            <a:r>
              <a:rPr dirty="0" sz="1800" spc="185" b="1">
                <a:latin typeface="Trebuchet MS"/>
                <a:cs typeface="Trebuchet MS"/>
              </a:rPr>
              <a:t> </a:t>
            </a:r>
            <a:r>
              <a:rPr dirty="0" sz="1800" spc="50" b="1">
                <a:latin typeface="Trebuchet MS"/>
                <a:cs typeface="Trebuchet MS"/>
              </a:rPr>
              <a:t>PAL</a:t>
            </a:r>
            <a:r>
              <a:rPr dirty="0" sz="1800" spc="200" b="1">
                <a:latin typeface="Trebuchet MS"/>
                <a:cs typeface="Trebuchet MS"/>
              </a:rPr>
              <a:t> </a:t>
            </a:r>
            <a:r>
              <a:rPr dirty="0" sz="1800" spc="70" b="1">
                <a:latin typeface="Trebuchet MS"/>
                <a:cs typeface="Trebuchet MS"/>
              </a:rPr>
              <a:t>(25CS2011066)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25">
                <a:latin typeface="Wingdings"/>
                <a:cs typeface="Wingdings"/>
              </a:rPr>
              <a:t>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70" b="1">
                <a:latin typeface="Trebuchet MS"/>
                <a:cs typeface="Trebuchet MS"/>
              </a:rPr>
              <a:t>SWATHI</a:t>
            </a:r>
            <a:r>
              <a:rPr dirty="0" sz="1800" spc="150" b="1">
                <a:latin typeface="Trebuchet MS"/>
                <a:cs typeface="Trebuchet MS"/>
              </a:rPr>
              <a:t> </a:t>
            </a:r>
            <a:r>
              <a:rPr dirty="0" sz="1800" spc="75" b="1">
                <a:latin typeface="Trebuchet MS"/>
                <a:cs typeface="Trebuchet MS"/>
              </a:rPr>
              <a:t>CHAKRABARTI</a:t>
            </a:r>
            <a:r>
              <a:rPr dirty="0" sz="1800" spc="155" b="1">
                <a:latin typeface="Trebuchet MS"/>
                <a:cs typeface="Trebuchet MS"/>
              </a:rPr>
              <a:t> </a:t>
            </a:r>
            <a:r>
              <a:rPr dirty="0" sz="1800" spc="65" b="1">
                <a:latin typeface="Trebuchet MS"/>
                <a:cs typeface="Trebuchet MS"/>
              </a:rPr>
              <a:t>(25CS2011131)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25">
                <a:latin typeface="Wingdings"/>
                <a:cs typeface="Wingdings"/>
              </a:rPr>
              <a:t></a:t>
            </a:r>
            <a:r>
              <a:rPr dirty="0" sz="1800" spc="-120">
                <a:latin typeface="Times New Roman"/>
                <a:cs typeface="Times New Roman"/>
              </a:rPr>
              <a:t> </a:t>
            </a:r>
            <a:r>
              <a:rPr dirty="0" sz="1800" spc="65" b="1">
                <a:latin typeface="Trebuchet MS"/>
                <a:cs typeface="Trebuchet MS"/>
              </a:rPr>
              <a:t>DEEPAK</a:t>
            </a:r>
            <a:r>
              <a:rPr dirty="0" sz="1800" spc="175" b="1">
                <a:latin typeface="Trebuchet MS"/>
                <a:cs typeface="Trebuchet MS"/>
              </a:rPr>
              <a:t> </a:t>
            </a:r>
            <a:r>
              <a:rPr dirty="0" sz="1800" spc="65" b="1">
                <a:latin typeface="Trebuchet MS"/>
                <a:cs typeface="Trebuchet MS"/>
              </a:rPr>
              <a:t>KUMAR</a:t>
            </a:r>
            <a:r>
              <a:rPr dirty="0" sz="1800" spc="150" b="1">
                <a:latin typeface="Trebuchet MS"/>
                <a:cs typeface="Trebuchet MS"/>
              </a:rPr>
              <a:t> </a:t>
            </a:r>
            <a:r>
              <a:rPr dirty="0" sz="1800" spc="65" b="1">
                <a:latin typeface="Trebuchet MS"/>
                <a:cs typeface="Trebuchet MS"/>
              </a:rPr>
              <a:t>(25CS2011040)</a:t>
            </a:r>
            <a:endParaRPr sz="1800">
              <a:latin typeface="Trebuchet MS"/>
              <a:cs typeface="Trebuchet MS"/>
            </a:endParaRPr>
          </a:p>
          <a:p>
            <a:pPr algn="ctr" marL="3330575">
              <a:lnSpc>
                <a:spcPct val="100000"/>
              </a:lnSpc>
              <a:spcBef>
                <a:spcPts val="1110"/>
              </a:spcBef>
            </a:pPr>
            <a:r>
              <a:rPr dirty="0" sz="1600" spc="95" b="1">
                <a:latin typeface="Trebuchet MS"/>
                <a:cs typeface="Trebuchet MS"/>
              </a:rPr>
              <a:t>PROGRAM </a:t>
            </a:r>
            <a:r>
              <a:rPr dirty="0" sz="1600" spc="100" b="1">
                <a:latin typeface="Trebuchet MS"/>
                <a:cs typeface="Trebuchet MS"/>
              </a:rPr>
              <a:t>NAME</a:t>
            </a:r>
            <a:r>
              <a:rPr dirty="0" sz="1600" spc="140" b="1">
                <a:latin typeface="Trebuchet MS"/>
                <a:cs typeface="Trebuchet MS"/>
              </a:rPr>
              <a:t> </a:t>
            </a:r>
            <a:r>
              <a:rPr dirty="0" sz="1600">
                <a:latin typeface="Wingdings"/>
                <a:cs typeface="Wingdings"/>
              </a:rPr>
              <a:t>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 spc="60" b="1">
                <a:latin typeface="Trebuchet MS"/>
                <a:cs typeface="Trebuchet MS"/>
              </a:rPr>
              <a:t>B.TECH</a:t>
            </a:r>
            <a:r>
              <a:rPr dirty="0" sz="1600" spc="75" b="1">
                <a:latin typeface="Trebuchet MS"/>
                <a:cs typeface="Trebuchet MS"/>
              </a:rPr>
              <a:t> </a:t>
            </a:r>
            <a:r>
              <a:rPr dirty="0" sz="1600" spc="70" b="1">
                <a:latin typeface="Trebuchet MS"/>
                <a:cs typeface="Trebuchet MS"/>
              </a:rPr>
              <a:t>CSE</a:t>
            </a:r>
            <a:r>
              <a:rPr dirty="0" sz="1600" spc="105" b="1">
                <a:latin typeface="Trebuchet MS"/>
                <a:cs typeface="Trebuchet MS"/>
              </a:rPr>
              <a:t> </a:t>
            </a:r>
            <a:r>
              <a:rPr dirty="0" sz="1600" spc="50" b="1">
                <a:latin typeface="Trebuchet MS"/>
                <a:cs typeface="Trebuchet MS"/>
              </a:rPr>
              <a:t>(CORE)</a:t>
            </a:r>
            <a:endParaRPr sz="1600">
              <a:latin typeface="Trebuchet MS"/>
              <a:cs typeface="Trebuchet MS"/>
            </a:endParaRPr>
          </a:p>
          <a:p>
            <a:pPr algn="ctr" marL="3335654">
              <a:lnSpc>
                <a:spcPct val="100000"/>
              </a:lnSpc>
              <a:spcBef>
                <a:spcPts val="1700"/>
              </a:spcBef>
            </a:pPr>
            <a:r>
              <a:rPr dirty="0" sz="1600" spc="95" b="1">
                <a:latin typeface="Trebuchet MS"/>
                <a:cs typeface="Trebuchet MS"/>
              </a:rPr>
              <a:t>GUIDED</a:t>
            </a:r>
            <a:r>
              <a:rPr dirty="0" sz="1600" spc="170" b="1">
                <a:latin typeface="Trebuchet MS"/>
                <a:cs typeface="Trebuchet MS"/>
              </a:rPr>
              <a:t> </a:t>
            </a:r>
            <a:r>
              <a:rPr dirty="0" sz="1600" b="1">
                <a:latin typeface="Trebuchet MS"/>
                <a:cs typeface="Trebuchet MS"/>
              </a:rPr>
              <a:t>BY</a:t>
            </a:r>
            <a:r>
              <a:rPr dirty="0" sz="1600" spc="114" b="1">
                <a:latin typeface="Trebuchet MS"/>
                <a:cs typeface="Trebuchet MS"/>
              </a:rPr>
              <a:t> </a:t>
            </a:r>
            <a:r>
              <a:rPr dirty="0" sz="1600">
                <a:latin typeface="Wingdings"/>
                <a:cs typeface="Wingdings"/>
              </a:rPr>
              <a:t>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95" b="1">
                <a:latin typeface="Trebuchet MS"/>
                <a:cs typeface="Trebuchet MS"/>
              </a:rPr>
              <a:t>DR.BIDISHA</a:t>
            </a:r>
            <a:r>
              <a:rPr dirty="0" sz="1600" spc="15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BHABANI</a:t>
            </a:r>
            <a:endParaRPr sz="1600">
              <a:latin typeface="Trebuchet MS"/>
              <a:cs typeface="Trebuchet MS"/>
            </a:endParaRPr>
          </a:p>
          <a:p>
            <a:pPr algn="ctr" marL="3331845">
              <a:lnSpc>
                <a:spcPct val="100000"/>
              </a:lnSpc>
              <a:spcBef>
                <a:spcPts val="1720"/>
              </a:spcBef>
            </a:pPr>
            <a:r>
              <a:rPr dirty="0" sz="1600" spc="45" b="1">
                <a:latin typeface="Trebuchet MS"/>
                <a:cs typeface="Trebuchet MS"/>
              </a:rPr>
              <a:t>(ASSISTANT</a:t>
            </a:r>
            <a:r>
              <a:rPr dirty="0" sz="1600" spc="19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PROFESSOR)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1600">
              <a:latin typeface="Trebuchet MS"/>
              <a:cs typeface="Trebuchet MS"/>
            </a:endParaRPr>
          </a:p>
          <a:p>
            <a:pPr algn="r" marR="97790">
              <a:lnSpc>
                <a:spcPct val="100000"/>
              </a:lnSpc>
              <a:spcBef>
                <a:spcPts val="5"/>
              </a:spcBef>
            </a:pPr>
            <a:r>
              <a:rPr dirty="0" sz="2400" spc="-25">
                <a:latin typeface="Arial MT"/>
                <a:cs typeface="Arial MT"/>
              </a:rPr>
              <a:t>01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095250"/>
            <a:ext cx="9144000" cy="763270"/>
          </a:xfrm>
          <a:custGeom>
            <a:avLst/>
            <a:gdLst/>
            <a:ahLst/>
            <a:cxnLst/>
            <a:rect l="l" t="t" r="r" b="b"/>
            <a:pathLst>
              <a:path w="9144000" h="763270">
                <a:moveTo>
                  <a:pt x="9144000" y="0"/>
                </a:moveTo>
                <a:lnTo>
                  <a:pt x="0" y="0"/>
                </a:lnTo>
                <a:lnTo>
                  <a:pt x="0" y="762749"/>
                </a:lnTo>
                <a:lnTo>
                  <a:pt x="9144000" y="762749"/>
                </a:lnTo>
                <a:lnTo>
                  <a:pt x="9144000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9144000" cy="2016125"/>
          </a:xfrm>
          <a:custGeom>
            <a:avLst/>
            <a:gdLst/>
            <a:ahLst/>
            <a:cxnLst/>
            <a:rect l="l" t="t" r="r" b="b"/>
            <a:pathLst>
              <a:path w="9144000" h="2016125">
                <a:moveTo>
                  <a:pt x="9144000" y="0"/>
                </a:moveTo>
                <a:lnTo>
                  <a:pt x="0" y="0"/>
                </a:lnTo>
                <a:lnTo>
                  <a:pt x="0" y="2015744"/>
                </a:lnTo>
                <a:lnTo>
                  <a:pt x="9144000" y="2015744"/>
                </a:lnTo>
                <a:lnTo>
                  <a:pt x="9144000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6095250"/>
            <a:ext cx="9144000" cy="763270"/>
          </a:xfrm>
          <a:custGeom>
            <a:avLst/>
            <a:gdLst/>
            <a:ahLst/>
            <a:cxnLst/>
            <a:rect l="l" t="t" r="r" b="b"/>
            <a:pathLst>
              <a:path w="9144000" h="763270">
                <a:moveTo>
                  <a:pt x="0" y="762749"/>
                </a:moveTo>
                <a:lnTo>
                  <a:pt x="9144000" y="762749"/>
                </a:lnTo>
                <a:lnTo>
                  <a:pt x="9144000" y="0"/>
                </a:lnTo>
                <a:lnTo>
                  <a:pt x="0" y="0"/>
                </a:lnTo>
                <a:lnTo>
                  <a:pt x="0" y="762749"/>
                </a:lnTo>
                <a:close/>
              </a:path>
            </a:pathLst>
          </a:custGeom>
          <a:ln w="25400">
            <a:solidFill>
              <a:srgbClr val="70883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2700" y="-12700"/>
            <a:ext cx="9169400" cy="6870700"/>
            <a:chOff x="-12700" y="-12700"/>
            <a:chExt cx="9169400" cy="6870700"/>
          </a:xfrm>
        </p:grpSpPr>
        <p:sp>
          <p:nvSpPr>
            <p:cNvPr id="6" name="object 6" descr=""/>
            <p:cNvSpPr/>
            <p:nvPr/>
          </p:nvSpPr>
          <p:spPr>
            <a:xfrm>
              <a:off x="0" y="0"/>
              <a:ext cx="9144000" cy="2016125"/>
            </a:xfrm>
            <a:custGeom>
              <a:avLst/>
              <a:gdLst/>
              <a:ahLst/>
              <a:cxnLst/>
              <a:rect l="l" t="t" r="r" b="b"/>
              <a:pathLst>
                <a:path w="9144000" h="2016125">
                  <a:moveTo>
                    <a:pt x="0" y="2015744"/>
                  </a:moveTo>
                  <a:lnTo>
                    <a:pt x="9144000" y="20157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5744"/>
                  </a:lnTo>
                  <a:close/>
                </a:path>
              </a:pathLst>
            </a:custGeom>
            <a:ln w="25400">
              <a:solidFill>
                <a:srgbClr val="70883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15756"/>
              <a:ext cx="9144000" cy="407949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61" y="1990356"/>
              <a:ext cx="9143365" cy="25400"/>
            </a:xfrm>
            <a:custGeom>
              <a:avLst/>
              <a:gdLst/>
              <a:ahLst/>
              <a:cxnLst/>
              <a:rect l="l" t="t" r="r" b="b"/>
              <a:pathLst>
                <a:path w="9143365" h="25400">
                  <a:moveTo>
                    <a:pt x="0" y="25400"/>
                  </a:moveTo>
                  <a:lnTo>
                    <a:pt x="9143238" y="25400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7088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95246"/>
              <a:ext cx="9144000" cy="76275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61" y="6069847"/>
              <a:ext cx="9143365" cy="25400"/>
            </a:xfrm>
            <a:custGeom>
              <a:avLst/>
              <a:gdLst/>
              <a:ahLst/>
              <a:cxnLst/>
              <a:rect l="l" t="t" r="r" b="b"/>
              <a:pathLst>
                <a:path w="9143365" h="25400">
                  <a:moveTo>
                    <a:pt x="0" y="25399"/>
                  </a:moveTo>
                  <a:lnTo>
                    <a:pt x="9143238" y="25399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25399"/>
                  </a:lnTo>
                  <a:close/>
                </a:path>
              </a:pathLst>
            </a:custGeom>
            <a:solidFill>
              <a:srgbClr val="7088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6094780"/>
              <a:ext cx="9144000" cy="12700"/>
            </a:xfrm>
            <a:custGeom>
              <a:avLst/>
              <a:gdLst/>
              <a:ahLst/>
              <a:cxnLst/>
              <a:rect l="l" t="t" r="r" b="b"/>
              <a:pathLst>
                <a:path w="9144000" h="12700">
                  <a:moveTo>
                    <a:pt x="9144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144000" y="1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6094780"/>
              <a:ext cx="9144000" cy="12700"/>
            </a:xfrm>
            <a:custGeom>
              <a:avLst/>
              <a:gdLst/>
              <a:ahLst/>
              <a:cxnLst/>
              <a:rect l="l" t="t" r="r" b="b"/>
              <a:pathLst>
                <a:path w="9144000" h="12700">
                  <a:moveTo>
                    <a:pt x="0" y="12700"/>
                  </a:moveTo>
                  <a:lnTo>
                    <a:pt x="9144000" y="127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ln w="25400">
              <a:solidFill>
                <a:srgbClr val="70883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20" y="2264664"/>
              <a:ext cx="543293" cy="528065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65857" y="1335989"/>
            <a:ext cx="481266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72465" algn="l"/>
                <a:tab pos="4799330" algn="l"/>
              </a:tabLst>
            </a:pPr>
            <a:r>
              <a:rPr dirty="0" u="sng">
                <a:uFill>
                  <a:solidFill>
                    <a:srgbClr val="4F6128"/>
                  </a:solidFill>
                </a:uFill>
              </a:rPr>
              <a:t>	</a:t>
            </a:r>
            <a:r>
              <a:rPr dirty="0" u="sng" spc="-10">
                <a:uFill>
                  <a:solidFill>
                    <a:srgbClr val="4F6128"/>
                  </a:solidFill>
                </a:uFill>
              </a:rPr>
              <a:t>CONTENTS</a:t>
            </a:r>
            <a:r>
              <a:rPr dirty="0" u="sng">
                <a:uFill>
                  <a:solidFill>
                    <a:srgbClr val="4F6128"/>
                  </a:solidFill>
                </a:uFill>
              </a:rPr>
              <a:t>	</a:t>
            </a:r>
          </a:p>
        </p:txBody>
      </p:sp>
      <p:grpSp>
        <p:nvGrpSpPr>
          <p:cNvPr id="15" name="object 15" descr=""/>
          <p:cNvGrpSpPr/>
          <p:nvPr/>
        </p:nvGrpSpPr>
        <p:grpSpPr>
          <a:xfrm>
            <a:off x="3131820" y="2241804"/>
            <a:ext cx="2698750" cy="2472690"/>
            <a:chOff x="3131820" y="2241804"/>
            <a:chExt cx="2698750" cy="2472690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6808" y="2241804"/>
              <a:ext cx="2231898" cy="56768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20" y="2583180"/>
              <a:ext cx="543293" cy="52806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6808" y="2560307"/>
              <a:ext cx="2052065" cy="56770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20" y="2900172"/>
              <a:ext cx="543293" cy="52806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6808" y="2877312"/>
              <a:ext cx="1722882" cy="56768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20" y="3217164"/>
              <a:ext cx="543293" cy="52806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16808" y="3194304"/>
              <a:ext cx="2225802" cy="56769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20" y="3535680"/>
              <a:ext cx="543293" cy="52806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16808" y="3512820"/>
              <a:ext cx="2413254" cy="56768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20" y="3852672"/>
              <a:ext cx="543293" cy="52806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16808" y="3829812"/>
              <a:ext cx="1948434" cy="56768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20" y="4169664"/>
              <a:ext cx="543293" cy="52806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16808" y="4146804"/>
              <a:ext cx="1791462" cy="567690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3267836" y="2305050"/>
            <a:ext cx="2397760" cy="2236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09245" algn="l"/>
              </a:tabLst>
            </a:pPr>
            <a:r>
              <a:rPr dirty="0" sz="2000" spc="-10" i="1">
                <a:latin typeface="Segoe UI Semibold"/>
                <a:cs typeface="Segoe UI Semibold"/>
              </a:rPr>
              <a:t>INTRODUCTION</a:t>
            </a:r>
            <a:endParaRPr sz="2000">
              <a:latin typeface="Segoe UI Semibold"/>
              <a:cs typeface="Segoe UI Semibold"/>
            </a:endParaRPr>
          </a:p>
          <a:p>
            <a:pPr marL="309245" indent="-296545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09245" algn="l"/>
              </a:tabLst>
            </a:pPr>
            <a:r>
              <a:rPr dirty="0" sz="2000" i="1">
                <a:latin typeface="Segoe UI Semibold"/>
                <a:cs typeface="Segoe UI Semibold"/>
              </a:rPr>
              <a:t>GAP</a:t>
            </a:r>
            <a:r>
              <a:rPr dirty="0" sz="2000" spc="-5" i="1">
                <a:latin typeface="Segoe UI Semibold"/>
                <a:cs typeface="Segoe UI Semibold"/>
              </a:rPr>
              <a:t> </a:t>
            </a:r>
            <a:r>
              <a:rPr dirty="0" sz="2000" spc="-10" i="1">
                <a:latin typeface="Segoe UI Semibold"/>
                <a:cs typeface="Segoe UI Semibold"/>
              </a:rPr>
              <a:t>ANALYSIS</a:t>
            </a:r>
            <a:endParaRPr sz="2000">
              <a:latin typeface="Segoe UI Semibold"/>
              <a:cs typeface="Segoe UI Semibold"/>
            </a:endParaRPr>
          </a:p>
          <a:p>
            <a:pPr marL="309245" indent="-29654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09245" algn="l"/>
              </a:tabLst>
            </a:pPr>
            <a:r>
              <a:rPr dirty="0" sz="2000" spc="-10" i="1">
                <a:latin typeface="Segoe UI Semibold"/>
                <a:cs typeface="Segoe UI Semibold"/>
              </a:rPr>
              <a:t>OBJECTIVES</a:t>
            </a:r>
            <a:endParaRPr sz="2000">
              <a:latin typeface="Segoe UI Semibold"/>
              <a:cs typeface="Segoe UI Semibold"/>
            </a:endParaRPr>
          </a:p>
          <a:p>
            <a:pPr marL="309245" indent="-29654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09245" algn="l"/>
              </a:tabLst>
            </a:pPr>
            <a:r>
              <a:rPr dirty="0" sz="2000" spc="-10" i="1">
                <a:latin typeface="Segoe UI Semibold"/>
                <a:cs typeface="Segoe UI Semibold"/>
              </a:rPr>
              <a:t>METHODOLOGY</a:t>
            </a:r>
            <a:endParaRPr sz="2000">
              <a:latin typeface="Segoe UI Semibold"/>
              <a:cs typeface="Segoe UI Semibold"/>
            </a:endParaRPr>
          </a:p>
          <a:p>
            <a:pPr marL="309245" indent="-296545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09245" algn="l"/>
              </a:tabLst>
            </a:pPr>
            <a:r>
              <a:rPr dirty="0" sz="2000" i="1">
                <a:latin typeface="Segoe UI Semibold"/>
                <a:cs typeface="Segoe UI Semibold"/>
              </a:rPr>
              <a:t>RESULT</a:t>
            </a:r>
            <a:r>
              <a:rPr dirty="0" sz="2000" spc="-40" i="1">
                <a:latin typeface="Segoe UI Semibold"/>
                <a:cs typeface="Segoe UI Semibold"/>
              </a:rPr>
              <a:t> </a:t>
            </a:r>
            <a:r>
              <a:rPr dirty="0" sz="2000" spc="-10" i="1">
                <a:latin typeface="Segoe UI Semibold"/>
                <a:cs typeface="Segoe UI Semibold"/>
              </a:rPr>
              <a:t>ANALYSIS</a:t>
            </a:r>
            <a:endParaRPr sz="2000">
              <a:latin typeface="Segoe UI Semibold"/>
              <a:cs typeface="Segoe UI Semibold"/>
            </a:endParaRPr>
          </a:p>
          <a:p>
            <a:pPr marL="309245" indent="-29654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09245" algn="l"/>
              </a:tabLst>
            </a:pPr>
            <a:r>
              <a:rPr dirty="0" sz="2000" spc="-10" i="1">
                <a:latin typeface="Segoe UI Semibold"/>
                <a:cs typeface="Segoe UI Semibold"/>
              </a:rPr>
              <a:t>CONCLUSION</a:t>
            </a:r>
            <a:endParaRPr sz="2000">
              <a:latin typeface="Segoe UI Semibold"/>
              <a:cs typeface="Segoe UI Semibold"/>
            </a:endParaRPr>
          </a:p>
          <a:p>
            <a:pPr marL="309245" indent="-29654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09245" algn="l"/>
              </a:tabLst>
            </a:pPr>
            <a:r>
              <a:rPr dirty="0" sz="2000" spc="-10" i="1">
                <a:latin typeface="Segoe UI Semibold"/>
                <a:cs typeface="Segoe UI Semibold"/>
              </a:rPr>
              <a:t>REFERENCES</a:t>
            </a:r>
            <a:endParaRPr sz="2000">
              <a:latin typeface="Segoe UI Semibold"/>
              <a:cs typeface="Segoe UI Semibold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34579" y="254152"/>
            <a:ext cx="1029931" cy="908913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8643619" y="6455185"/>
            <a:ext cx="309245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latin typeface="Arial MT"/>
                <a:cs typeface="Arial MT"/>
              </a:rPr>
              <a:t>02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6361" y="6247866"/>
            <a:ext cx="9037955" cy="610235"/>
          </a:xfrm>
          <a:custGeom>
            <a:avLst/>
            <a:gdLst/>
            <a:ahLst/>
            <a:cxnLst/>
            <a:rect l="l" t="t" r="r" b="b"/>
            <a:pathLst>
              <a:path w="9037955" h="610234">
                <a:moveTo>
                  <a:pt x="9037638" y="0"/>
                </a:moveTo>
                <a:lnTo>
                  <a:pt x="0" y="0"/>
                </a:lnTo>
                <a:lnTo>
                  <a:pt x="0" y="610133"/>
                </a:lnTo>
                <a:lnTo>
                  <a:pt x="9037638" y="610133"/>
                </a:lnTo>
                <a:lnTo>
                  <a:pt x="9037638" y="0"/>
                </a:lnTo>
                <a:close/>
              </a:path>
            </a:pathLst>
          </a:custGeom>
          <a:solidFill>
            <a:srgbClr val="FFDC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6361" y="152654"/>
            <a:ext cx="9037955" cy="6705600"/>
            <a:chOff x="106361" y="152654"/>
            <a:chExt cx="9037955" cy="6705600"/>
          </a:xfrm>
        </p:grpSpPr>
        <p:sp>
          <p:nvSpPr>
            <p:cNvPr id="4" name="object 4" descr=""/>
            <p:cNvSpPr/>
            <p:nvPr/>
          </p:nvSpPr>
          <p:spPr>
            <a:xfrm>
              <a:off x="106361" y="152654"/>
              <a:ext cx="9037955" cy="2016125"/>
            </a:xfrm>
            <a:custGeom>
              <a:avLst/>
              <a:gdLst/>
              <a:ahLst/>
              <a:cxnLst/>
              <a:rect l="l" t="t" r="r" b="b"/>
              <a:pathLst>
                <a:path w="9037955" h="2016125">
                  <a:moveTo>
                    <a:pt x="9037638" y="0"/>
                  </a:moveTo>
                  <a:lnTo>
                    <a:pt x="0" y="0"/>
                  </a:lnTo>
                  <a:lnTo>
                    <a:pt x="0" y="2015744"/>
                  </a:lnTo>
                  <a:lnTo>
                    <a:pt x="9037638" y="2015744"/>
                  </a:lnTo>
                  <a:lnTo>
                    <a:pt x="9037638" y="0"/>
                  </a:lnTo>
                  <a:close/>
                </a:path>
              </a:pathLst>
            </a:custGeom>
            <a:solidFill>
              <a:srgbClr val="FFDC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361" y="2168372"/>
              <a:ext cx="9037574" cy="468962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06361" y="6247396"/>
              <a:ext cx="9037955" cy="12700"/>
            </a:xfrm>
            <a:custGeom>
              <a:avLst/>
              <a:gdLst/>
              <a:ahLst/>
              <a:cxnLst/>
              <a:rect l="l" t="t" r="r" b="b"/>
              <a:pathLst>
                <a:path w="9037955" h="12700">
                  <a:moveTo>
                    <a:pt x="903763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037638" y="12700"/>
                  </a:lnTo>
                  <a:lnTo>
                    <a:pt x="9037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79855" y="1164463"/>
            <a:ext cx="659701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83680" algn="l"/>
              </a:tabLst>
            </a:pPr>
            <a:r>
              <a:rPr dirty="0" u="heavy" sz="6600" spc="80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 </a:t>
            </a:r>
            <a:r>
              <a:rPr dirty="0" u="heavy" sz="6600" spc="-605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I</a:t>
            </a:r>
            <a:r>
              <a:rPr dirty="0" u="heavy" sz="6600" spc="-1745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N</a:t>
            </a:r>
            <a:r>
              <a:rPr dirty="0" u="heavy" sz="6600" spc="-930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T</a:t>
            </a:r>
            <a:r>
              <a:rPr dirty="0" u="heavy" sz="6600" spc="-1375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R</a:t>
            </a:r>
            <a:r>
              <a:rPr dirty="0" u="heavy" sz="6600" spc="-1335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O</a:t>
            </a:r>
            <a:r>
              <a:rPr dirty="0" u="heavy" sz="6600" spc="-1555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D</a:t>
            </a:r>
            <a:r>
              <a:rPr dirty="0" u="heavy" sz="6600" spc="-1660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U</a:t>
            </a:r>
            <a:r>
              <a:rPr dirty="0" u="heavy" sz="6600" spc="-1395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C</a:t>
            </a:r>
            <a:r>
              <a:rPr dirty="0" u="heavy" sz="6600" spc="-930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T</a:t>
            </a:r>
            <a:r>
              <a:rPr dirty="0" u="heavy" sz="6600" spc="-630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I</a:t>
            </a:r>
            <a:r>
              <a:rPr dirty="0" u="heavy" sz="6600" spc="-1335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O</a:t>
            </a:r>
            <a:r>
              <a:rPr dirty="0" u="heavy" sz="6600" spc="-25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N</a:t>
            </a:r>
            <a:r>
              <a:rPr dirty="0" u="heavy" sz="6600">
                <a:uFill>
                  <a:solidFill>
                    <a:srgbClr val="B71E42"/>
                  </a:solidFill>
                </a:uFill>
                <a:latin typeface="Bahnschrift"/>
                <a:cs typeface="Bahnschrift"/>
              </a:rPr>
              <a:t>	</a:t>
            </a:r>
            <a:endParaRPr sz="6600">
              <a:latin typeface="Bahnschrift"/>
              <a:cs typeface="Bahnschrift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 indent="186055">
              <a:lnSpc>
                <a:spcPts val="3170"/>
              </a:lnSpc>
              <a:spcBef>
                <a:spcPts val="90"/>
              </a:spcBef>
              <a:buSzPct val="96000"/>
              <a:buFont typeface="Arial"/>
              <a:buChar char="•"/>
              <a:tabLst>
                <a:tab pos="198755" algn="l"/>
              </a:tabLst>
            </a:pPr>
            <a:r>
              <a:rPr dirty="0" sz="2500">
                <a:latin typeface="Times New Roman"/>
                <a:cs typeface="Times New Roman"/>
              </a:rPr>
              <a:t>Quiz</a:t>
            </a:r>
            <a:r>
              <a:rPr dirty="0" sz="2500" spc="-125">
                <a:latin typeface="Times New Roman"/>
                <a:cs typeface="Times New Roman"/>
              </a:rPr>
              <a:t> </a:t>
            </a:r>
            <a:r>
              <a:rPr dirty="0" sz="2500" spc="-40">
                <a:latin typeface="Times New Roman"/>
                <a:cs typeface="Times New Roman"/>
              </a:rPr>
              <a:t>Games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135">
                <a:latin typeface="Times New Roman"/>
                <a:cs typeface="Times New Roman"/>
              </a:rPr>
              <a:t>are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one</a:t>
            </a:r>
            <a:r>
              <a:rPr dirty="0" sz="2500" spc="-8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most</a:t>
            </a:r>
            <a:r>
              <a:rPr dirty="0" sz="2500" spc="-95">
                <a:latin typeface="Times New Roman"/>
                <a:cs typeface="Times New Roman"/>
              </a:rPr>
              <a:t> </a:t>
            </a:r>
            <a:r>
              <a:rPr dirty="0" sz="2500" spc="-100">
                <a:latin typeface="Times New Roman"/>
                <a:cs typeface="Times New Roman"/>
              </a:rPr>
              <a:t>interactive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 spc="-60">
                <a:latin typeface="Times New Roman"/>
                <a:cs typeface="Times New Roman"/>
              </a:rPr>
              <a:t>and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mind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110">
                <a:latin typeface="Times New Roman"/>
                <a:cs typeface="Times New Roman"/>
              </a:rPr>
              <a:t>blogging </a:t>
            </a:r>
            <a:r>
              <a:rPr dirty="0" sz="2500" spc="-105">
                <a:latin typeface="Times New Roman"/>
                <a:cs typeface="Times New Roman"/>
              </a:rPr>
              <a:t>games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170">
                <a:latin typeface="Times New Roman"/>
                <a:cs typeface="Times New Roman"/>
              </a:rPr>
              <a:t>all</a:t>
            </a:r>
            <a:r>
              <a:rPr dirty="0" sz="2500" spc="-10">
                <a:latin typeface="Times New Roman"/>
                <a:cs typeface="Times New Roman"/>
              </a:rPr>
              <a:t> time.</a:t>
            </a:r>
            <a:endParaRPr sz="25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135"/>
              </a:spcBef>
              <a:buChar char="•"/>
              <a:tabLst>
                <a:tab pos="278765" algn="l"/>
              </a:tabLst>
            </a:pPr>
            <a:r>
              <a:rPr dirty="0" sz="2500" spc="-90">
                <a:latin typeface="Times New Roman"/>
                <a:cs typeface="Times New Roman"/>
              </a:rPr>
              <a:t>It</a:t>
            </a:r>
            <a:r>
              <a:rPr dirty="0" sz="2500" spc="-240">
                <a:latin typeface="Times New Roman"/>
                <a:cs typeface="Times New Roman"/>
              </a:rPr>
              <a:t> </a:t>
            </a:r>
            <a:r>
              <a:rPr dirty="0" sz="2500" spc="-190">
                <a:latin typeface="Times New Roman"/>
                <a:cs typeface="Times New Roman"/>
              </a:rPr>
              <a:t>is</a:t>
            </a:r>
            <a:r>
              <a:rPr dirty="0" sz="2500" spc="-215">
                <a:latin typeface="Times New Roman"/>
                <a:cs typeface="Times New Roman"/>
              </a:rPr>
              <a:t> </a:t>
            </a:r>
            <a:r>
              <a:rPr dirty="0" sz="2500" spc="-75">
                <a:latin typeface="Times New Roman"/>
                <a:cs typeface="Times New Roman"/>
              </a:rPr>
              <a:t>designed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55">
                <a:latin typeface="Times New Roman"/>
                <a:cs typeface="Times New Roman"/>
              </a:rPr>
              <a:t>to</a:t>
            </a:r>
            <a:r>
              <a:rPr dirty="0" sz="2500" spc="-130">
                <a:latin typeface="Times New Roman"/>
                <a:cs typeface="Times New Roman"/>
              </a:rPr>
              <a:t> </a:t>
            </a:r>
            <a:r>
              <a:rPr dirty="0" sz="2500" spc="-45">
                <a:latin typeface="Times New Roman"/>
                <a:cs typeface="Times New Roman"/>
              </a:rPr>
              <a:t>improve</a:t>
            </a:r>
            <a:r>
              <a:rPr dirty="0" sz="2500" spc="-70">
                <a:latin typeface="Times New Roman"/>
                <a:cs typeface="Times New Roman"/>
              </a:rPr>
              <a:t> knowledge </a:t>
            </a:r>
            <a:r>
              <a:rPr dirty="0" sz="2500" spc="-10">
                <a:latin typeface="Times New Roman"/>
                <a:cs typeface="Times New Roman"/>
              </a:rPr>
              <a:t>retention.</a:t>
            </a:r>
            <a:endParaRPr sz="25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275"/>
              </a:spcBef>
              <a:buChar char="•"/>
              <a:tabLst>
                <a:tab pos="278765" algn="l"/>
              </a:tabLst>
            </a:pPr>
            <a:r>
              <a:rPr dirty="0" sz="2500" spc="-90">
                <a:latin typeface="Times New Roman"/>
                <a:cs typeface="Times New Roman"/>
              </a:rPr>
              <a:t>It</a:t>
            </a:r>
            <a:r>
              <a:rPr dirty="0" sz="2500" spc="-215">
                <a:latin typeface="Times New Roman"/>
                <a:cs typeface="Times New Roman"/>
              </a:rPr>
              <a:t> </a:t>
            </a:r>
            <a:r>
              <a:rPr dirty="0" sz="2500" spc="-220">
                <a:latin typeface="Times New Roman"/>
                <a:cs typeface="Times New Roman"/>
              </a:rPr>
              <a:t>fascinates</a:t>
            </a:r>
            <a:r>
              <a:rPr dirty="0" sz="2500" spc="-145">
                <a:latin typeface="Times New Roman"/>
                <a:cs typeface="Times New Roman"/>
              </a:rPr>
              <a:t> </a:t>
            </a:r>
            <a:r>
              <a:rPr dirty="0" sz="2500" spc="-185">
                <a:latin typeface="Times New Roman"/>
                <a:cs typeface="Times New Roman"/>
              </a:rPr>
              <a:t>users </a:t>
            </a:r>
            <a:r>
              <a:rPr dirty="0" sz="2500" spc="-110">
                <a:latin typeface="Times New Roman"/>
                <a:cs typeface="Times New Roman"/>
              </a:rPr>
              <a:t>from</a:t>
            </a:r>
            <a:r>
              <a:rPr dirty="0" sz="2500" spc="-210">
                <a:latin typeface="Times New Roman"/>
                <a:cs typeface="Times New Roman"/>
              </a:rPr>
              <a:t> </a:t>
            </a:r>
            <a:r>
              <a:rPr dirty="0" sz="2500" spc="-245">
                <a:latin typeface="Times New Roman"/>
                <a:cs typeface="Times New Roman"/>
              </a:rPr>
              <a:t>all</a:t>
            </a:r>
            <a:r>
              <a:rPr dirty="0" sz="2500" spc="-170">
                <a:latin typeface="Times New Roman"/>
                <a:cs typeface="Times New Roman"/>
              </a:rPr>
              <a:t> </a:t>
            </a:r>
            <a:r>
              <a:rPr dirty="0" sz="2500" spc="-254">
                <a:latin typeface="Times New Roman"/>
                <a:cs typeface="Times New Roman"/>
              </a:rPr>
              <a:t>age</a:t>
            </a:r>
            <a:r>
              <a:rPr dirty="0" sz="2500" spc="-19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group.</a:t>
            </a:r>
            <a:endParaRPr sz="25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165"/>
              </a:spcBef>
              <a:buChar char="•"/>
              <a:tabLst>
                <a:tab pos="286385" algn="l"/>
              </a:tabLst>
            </a:pPr>
            <a:r>
              <a:rPr dirty="0" sz="2500" spc="-70">
                <a:latin typeface="Times New Roman"/>
                <a:cs typeface="Times New Roman"/>
              </a:rPr>
              <a:t>Uses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500" spc="-105">
                <a:latin typeface="Times New Roman"/>
                <a:cs typeface="Times New Roman"/>
              </a:rPr>
              <a:t>multiple-</a:t>
            </a:r>
            <a:r>
              <a:rPr dirty="0" sz="2500" spc="-40">
                <a:latin typeface="Times New Roman"/>
                <a:cs typeface="Times New Roman"/>
              </a:rPr>
              <a:t>choice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60">
                <a:latin typeface="Times New Roman"/>
                <a:cs typeface="Times New Roman"/>
              </a:rPr>
              <a:t>questions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to</a:t>
            </a:r>
            <a:r>
              <a:rPr dirty="0" sz="2500" spc="-95">
                <a:latin typeface="Times New Roman"/>
                <a:cs typeface="Times New Roman"/>
              </a:rPr>
              <a:t> </a:t>
            </a:r>
            <a:r>
              <a:rPr dirty="0" sz="2500" spc="-85">
                <a:latin typeface="Times New Roman"/>
                <a:cs typeface="Times New Roman"/>
              </a:rPr>
              <a:t>test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105">
                <a:latin typeface="Times New Roman"/>
                <a:cs typeface="Times New Roman"/>
              </a:rPr>
              <a:t>user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understanding.</a:t>
            </a:r>
            <a:endParaRPr sz="2500">
              <a:latin typeface="Times New Roman"/>
              <a:cs typeface="Times New Roman"/>
            </a:endParaRPr>
          </a:p>
          <a:p>
            <a:pPr marL="241300" marR="2653030" indent="-228600">
              <a:lnSpc>
                <a:spcPct val="106000"/>
              </a:lnSpc>
              <a:spcBef>
                <a:spcPts val="1140"/>
              </a:spcBef>
              <a:buChar char="•"/>
              <a:tabLst>
                <a:tab pos="241300" algn="l"/>
                <a:tab pos="278765" algn="l"/>
              </a:tabLst>
            </a:pP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35">
                <a:latin typeface="Times New Roman"/>
                <a:cs typeface="Times New Roman"/>
              </a:rPr>
              <a:t>Developed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125">
                <a:latin typeface="Times New Roman"/>
                <a:cs typeface="Times New Roman"/>
              </a:rPr>
              <a:t>using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500" spc="-50">
                <a:latin typeface="Times New Roman"/>
                <a:cs typeface="Times New Roman"/>
              </a:rPr>
              <a:t>simple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225">
                <a:latin typeface="Times New Roman"/>
                <a:cs typeface="Times New Roman"/>
              </a:rPr>
              <a:t>C-</a:t>
            </a:r>
            <a:r>
              <a:rPr dirty="0" sz="2500" spc="-80">
                <a:latin typeface="Times New Roman"/>
                <a:cs typeface="Times New Roman"/>
              </a:rPr>
              <a:t>programming </a:t>
            </a:r>
            <a:r>
              <a:rPr dirty="0" sz="2500" spc="-10">
                <a:latin typeface="Times New Roman"/>
                <a:cs typeface="Times New Roman"/>
              </a:rPr>
              <a:t>concepts.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4169" y="188112"/>
            <a:ext cx="1029931" cy="90891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745473" y="6544187"/>
            <a:ext cx="309245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latin typeface="Arial MT"/>
                <a:cs typeface="Arial MT"/>
              </a:rPr>
              <a:t>03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077523"/>
            <a:ext cx="9144000" cy="781050"/>
            <a:chOff x="0" y="6077523"/>
            <a:chExt cx="9144000" cy="7810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834486"/>
              <a:ext cx="9144000" cy="2351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6077523"/>
              <a:ext cx="9144000" cy="763270"/>
            </a:xfrm>
            <a:custGeom>
              <a:avLst/>
              <a:gdLst/>
              <a:ahLst/>
              <a:cxnLst/>
              <a:rect l="l" t="t" r="r" b="b"/>
              <a:pathLst>
                <a:path w="9144000" h="763270">
                  <a:moveTo>
                    <a:pt x="9144000" y="0"/>
                  </a:moveTo>
                  <a:lnTo>
                    <a:pt x="0" y="0"/>
                  </a:lnTo>
                  <a:lnTo>
                    <a:pt x="0" y="762749"/>
                  </a:lnTo>
                  <a:lnTo>
                    <a:pt x="9144000" y="76274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2FF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9144000" cy="6808470"/>
            <a:chOff x="0" y="0"/>
            <a:chExt cx="9144000" cy="6808470"/>
          </a:xfrm>
        </p:grpSpPr>
        <p:sp>
          <p:nvSpPr>
            <p:cNvPr id="6" name="object 6" descr=""/>
            <p:cNvSpPr/>
            <p:nvPr/>
          </p:nvSpPr>
          <p:spPr>
            <a:xfrm>
              <a:off x="0" y="0"/>
              <a:ext cx="9144000" cy="1998345"/>
            </a:xfrm>
            <a:custGeom>
              <a:avLst/>
              <a:gdLst/>
              <a:ahLst/>
              <a:cxnLst/>
              <a:rect l="l" t="t" r="r" b="b"/>
              <a:pathLst>
                <a:path w="9144000" h="1998345">
                  <a:moveTo>
                    <a:pt x="0" y="1998090"/>
                  </a:moveTo>
                  <a:lnTo>
                    <a:pt x="9144000" y="19980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98090"/>
                  </a:lnTo>
                  <a:close/>
                </a:path>
              </a:pathLst>
            </a:custGeom>
            <a:solidFill>
              <a:srgbClr val="D2FF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66099"/>
              <a:ext cx="9143999" cy="484223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6045123"/>
              <a:ext cx="9144000" cy="12700"/>
            </a:xfrm>
            <a:custGeom>
              <a:avLst/>
              <a:gdLst/>
              <a:ahLst/>
              <a:cxnLst/>
              <a:rect l="l" t="t" r="r" b="b"/>
              <a:pathLst>
                <a:path w="9144000" h="12700">
                  <a:moveTo>
                    <a:pt x="9144000" y="0"/>
                  </a:moveTo>
                  <a:lnTo>
                    <a:pt x="0" y="0"/>
                  </a:lnTo>
                  <a:lnTo>
                    <a:pt x="0" y="12699"/>
                  </a:lnTo>
                  <a:lnTo>
                    <a:pt x="9144000" y="126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73428" y="1457908"/>
            <a:ext cx="6597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2490" algn="l"/>
                <a:tab pos="6583680" algn="l"/>
              </a:tabLst>
            </a:pPr>
            <a:r>
              <a:rPr dirty="0"/>
              <a:t>	GAP</a:t>
            </a:r>
            <a:r>
              <a:rPr dirty="0" spc="-35"/>
              <a:t> </a:t>
            </a:r>
            <a:r>
              <a:rPr dirty="0" spc="-10"/>
              <a:t>ANALYSIS</a:t>
            </a:r>
            <a:r>
              <a:rPr dirty="0"/>
              <a:t>	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834339" y="2417140"/>
            <a:ext cx="7794625" cy="3187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438784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200" i="1">
                <a:latin typeface="Arial"/>
                <a:cs typeface="Arial"/>
              </a:rPr>
              <a:t>A</a:t>
            </a:r>
            <a:r>
              <a:rPr dirty="0" sz="2200" spc="-5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quiz</a:t>
            </a:r>
            <a:r>
              <a:rPr dirty="0" sz="2200" spc="-5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game</a:t>
            </a:r>
            <a:r>
              <a:rPr dirty="0" sz="2200" spc="-1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in</a:t>
            </a:r>
            <a:r>
              <a:rPr dirty="0" sz="2200" spc="-5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C</a:t>
            </a:r>
            <a:r>
              <a:rPr dirty="0" sz="2200" spc="-5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involves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comparing</a:t>
            </a:r>
            <a:r>
              <a:rPr dirty="0" sz="2200" spc="-1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its</a:t>
            </a:r>
            <a:r>
              <a:rPr dirty="0" sz="2200" spc="-5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current</a:t>
            </a:r>
            <a:r>
              <a:rPr dirty="0" sz="2200" spc="-35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features </a:t>
            </a:r>
            <a:r>
              <a:rPr dirty="0" sz="2200" i="1">
                <a:latin typeface="Arial"/>
                <a:cs typeface="Arial"/>
              </a:rPr>
              <a:t>with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ideal,</a:t>
            </a:r>
            <a:r>
              <a:rPr dirty="0" sz="2200" spc="-5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desired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features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and</a:t>
            </a:r>
            <a:r>
              <a:rPr dirty="0" sz="2200" spc="-5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identifying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steps </a:t>
            </a:r>
            <a:r>
              <a:rPr dirty="0" sz="2200" i="1">
                <a:latin typeface="Arial"/>
                <a:cs typeface="Arial"/>
              </a:rPr>
              <a:t>needed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to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bridge</a:t>
            </a:r>
            <a:r>
              <a:rPr dirty="0" sz="2200" spc="-5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that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spc="-20" i="1">
                <a:latin typeface="Arial"/>
                <a:cs typeface="Arial"/>
              </a:rPr>
              <a:t>gap.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61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200" i="1">
                <a:latin typeface="Arial"/>
                <a:cs typeface="Arial"/>
              </a:rPr>
              <a:t>Our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quiz</a:t>
            </a:r>
            <a:r>
              <a:rPr dirty="0" sz="2200" spc="-5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game</a:t>
            </a:r>
            <a:r>
              <a:rPr dirty="0" sz="2200" spc="-2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only</a:t>
            </a:r>
            <a:r>
              <a:rPr dirty="0" sz="2200" spc="-5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shows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spc="-50" i="1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9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200" i="1">
                <a:latin typeface="Arial"/>
                <a:cs typeface="Arial"/>
              </a:rPr>
              <a:t>Sequential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questions</a:t>
            </a:r>
            <a:r>
              <a:rPr dirty="0" sz="2200" spc="-9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which</a:t>
            </a:r>
            <a:r>
              <a:rPr dirty="0" sz="2200" spc="-7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are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rearranged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after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each</a:t>
            </a:r>
            <a:r>
              <a:rPr dirty="0" sz="2200" spc="-75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round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9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200" i="1">
                <a:latin typeface="Arial"/>
                <a:cs typeface="Arial"/>
              </a:rPr>
              <a:t>Taking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user</a:t>
            </a:r>
            <a:r>
              <a:rPr dirty="0" sz="2200" spc="-5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name</a:t>
            </a:r>
            <a:r>
              <a:rPr dirty="0" sz="2200" spc="-4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although</a:t>
            </a:r>
            <a:r>
              <a:rPr dirty="0" sz="2200" spc="-5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it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doesn’t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store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spc="-25" i="1">
                <a:latin typeface="Arial"/>
                <a:cs typeface="Arial"/>
              </a:rPr>
              <a:t>it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61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200" i="1">
                <a:latin typeface="Arial"/>
                <a:cs typeface="Arial"/>
              </a:rPr>
              <a:t>Displaying</a:t>
            </a:r>
            <a:r>
              <a:rPr dirty="0" sz="2200" spc="-7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the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final</a:t>
            </a:r>
            <a:r>
              <a:rPr dirty="0" sz="2200" spc="-5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score</a:t>
            </a:r>
            <a:r>
              <a:rPr dirty="0" sz="2200" spc="-6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along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with</a:t>
            </a:r>
            <a:r>
              <a:rPr dirty="0" sz="2200" spc="-60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percentage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4843" y="188112"/>
            <a:ext cx="1029931" cy="908913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8607043" y="6505172"/>
            <a:ext cx="309245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latin typeface="Arial MT"/>
                <a:cs typeface="Arial MT"/>
              </a:rPr>
              <a:t>04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-4762"/>
            <a:ext cx="9149080" cy="6867525"/>
            <a:chOff x="-4762" y="-4762"/>
            <a:chExt cx="9149080" cy="68675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95250"/>
              <a:ext cx="9132627" cy="76275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32627" cy="20157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9133205" cy="6858000"/>
            </a:xfrm>
            <a:custGeom>
              <a:avLst/>
              <a:gdLst/>
              <a:ahLst/>
              <a:cxnLst/>
              <a:rect l="l" t="t" r="r" b="b"/>
              <a:pathLst>
                <a:path w="9133205" h="6858000">
                  <a:moveTo>
                    <a:pt x="0" y="6857999"/>
                  </a:moveTo>
                  <a:lnTo>
                    <a:pt x="9132627" y="6857999"/>
                  </a:lnTo>
                  <a:lnTo>
                    <a:pt x="9132627" y="6095249"/>
                  </a:lnTo>
                  <a:lnTo>
                    <a:pt x="0" y="6095249"/>
                  </a:lnTo>
                </a:path>
                <a:path w="9133205" h="6858000">
                  <a:moveTo>
                    <a:pt x="0" y="2015744"/>
                  </a:moveTo>
                  <a:lnTo>
                    <a:pt x="9132627" y="2015744"/>
                  </a:lnTo>
                  <a:lnTo>
                    <a:pt x="9132627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952244"/>
              <a:ext cx="9144000" cy="417880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983816"/>
              <a:ext cx="9132627" cy="407949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62" y="1979053"/>
              <a:ext cx="9137015" cy="4089400"/>
            </a:xfrm>
            <a:custGeom>
              <a:avLst/>
              <a:gdLst/>
              <a:ahLst/>
              <a:cxnLst/>
              <a:rect l="l" t="t" r="r" b="b"/>
              <a:pathLst>
                <a:path w="9137015" h="4089400">
                  <a:moveTo>
                    <a:pt x="0" y="4089019"/>
                  </a:moveTo>
                  <a:lnTo>
                    <a:pt x="9136627" y="4089019"/>
                  </a:lnTo>
                  <a:lnTo>
                    <a:pt x="9136627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6030462"/>
              <a:ext cx="9144000" cy="82753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6063310"/>
              <a:ext cx="9132627" cy="76275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62" y="6058548"/>
              <a:ext cx="9137015" cy="772795"/>
            </a:xfrm>
            <a:custGeom>
              <a:avLst/>
              <a:gdLst/>
              <a:ahLst/>
              <a:cxnLst/>
              <a:rect l="l" t="t" r="r" b="b"/>
              <a:pathLst>
                <a:path w="9137015" h="772795">
                  <a:moveTo>
                    <a:pt x="0" y="772274"/>
                  </a:moveTo>
                  <a:lnTo>
                    <a:pt x="9136627" y="772274"/>
                  </a:lnTo>
                  <a:lnTo>
                    <a:pt x="9136627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6035040"/>
              <a:ext cx="9144000" cy="10369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6062840"/>
              <a:ext cx="9132627" cy="127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0" y="6062840"/>
              <a:ext cx="9133205" cy="12700"/>
            </a:xfrm>
            <a:custGeom>
              <a:avLst/>
              <a:gdLst/>
              <a:ahLst/>
              <a:cxnLst/>
              <a:rect l="l" t="t" r="r" b="b"/>
              <a:pathLst>
                <a:path w="9133205" h="12700">
                  <a:moveTo>
                    <a:pt x="0" y="12699"/>
                  </a:moveTo>
                  <a:lnTo>
                    <a:pt x="9132627" y="12699"/>
                  </a:lnTo>
                  <a:lnTo>
                    <a:pt x="9132627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262125" y="1402207"/>
            <a:ext cx="659701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83285" algn="l"/>
                <a:tab pos="6583680" algn="l"/>
              </a:tabLst>
            </a:pPr>
            <a:r>
              <a:rPr dirty="0"/>
              <a:t>	</a:t>
            </a:r>
            <a:r>
              <a:rPr dirty="0" spc="-10"/>
              <a:t>OBJECTIVES</a:t>
            </a:r>
            <a:r>
              <a:rPr dirty="0"/>
              <a:t>	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913891" y="2452268"/>
            <a:ext cx="6166485" cy="2464435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600"/>
              </a:spcBef>
              <a:buAutoNum type="arabicPeriod"/>
              <a:tabLst>
                <a:tab pos="316865" algn="l"/>
              </a:tabLst>
            </a:pPr>
            <a:r>
              <a:rPr dirty="0" sz="2200" spc="-45" i="1">
                <a:latin typeface="Arial"/>
                <a:cs typeface="Arial"/>
              </a:rPr>
              <a:t>User-</a:t>
            </a:r>
            <a:r>
              <a:rPr dirty="0" sz="2200" i="1">
                <a:latin typeface="Arial"/>
                <a:cs typeface="Arial"/>
              </a:rPr>
              <a:t>friendly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interface</a:t>
            </a:r>
            <a:r>
              <a:rPr dirty="0" sz="2200" spc="-10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suitable</a:t>
            </a:r>
            <a:r>
              <a:rPr dirty="0" sz="2200" spc="-11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for</a:t>
            </a:r>
            <a:r>
              <a:rPr dirty="0" sz="2200" spc="-95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beginners.</a:t>
            </a:r>
            <a:endParaRPr sz="2200">
              <a:latin typeface="Arial"/>
              <a:cs typeface="Arial"/>
            </a:endParaRPr>
          </a:p>
          <a:p>
            <a:pPr marL="12700" marR="5080" indent="310515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323215" algn="l"/>
              </a:tabLst>
            </a:pPr>
            <a:r>
              <a:rPr dirty="0" sz="2200" spc="-10" i="1">
                <a:latin typeface="Arial"/>
                <a:cs typeface="Arial"/>
              </a:rPr>
              <a:t>Automatic</a:t>
            </a:r>
            <a:r>
              <a:rPr dirty="0" sz="2200" spc="-7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score</a:t>
            </a:r>
            <a:r>
              <a:rPr dirty="0" sz="2200" spc="-70" i="1">
                <a:latin typeface="Arial"/>
                <a:cs typeface="Arial"/>
              </a:rPr>
              <a:t> </a:t>
            </a:r>
            <a:r>
              <a:rPr dirty="0" sz="2200" spc="-60" i="1">
                <a:latin typeface="Arial"/>
                <a:cs typeface="Arial"/>
              </a:rPr>
              <a:t>and</a:t>
            </a:r>
            <a:r>
              <a:rPr dirty="0" sz="2200" spc="-120" i="1">
                <a:latin typeface="Arial"/>
                <a:cs typeface="Arial"/>
              </a:rPr>
              <a:t> </a:t>
            </a:r>
            <a:r>
              <a:rPr dirty="0" sz="2200" spc="-65" i="1">
                <a:latin typeface="Arial"/>
                <a:cs typeface="Arial"/>
              </a:rPr>
              <a:t>percentage</a:t>
            </a:r>
            <a:r>
              <a:rPr dirty="0" sz="2200" spc="-100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calculation</a:t>
            </a:r>
            <a:r>
              <a:rPr dirty="0" sz="2200" spc="-110" i="1">
                <a:latin typeface="Arial"/>
                <a:cs typeface="Arial"/>
              </a:rPr>
              <a:t> </a:t>
            </a:r>
            <a:r>
              <a:rPr dirty="0" sz="2200" spc="-25" i="1">
                <a:latin typeface="Arial"/>
                <a:cs typeface="Arial"/>
              </a:rPr>
              <a:t>and </a:t>
            </a:r>
            <a:r>
              <a:rPr dirty="0" sz="2200" i="1">
                <a:latin typeface="Arial"/>
                <a:cs typeface="Arial"/>
              </a:rPr>
              <a:t>result</a:t>
            </a:r>
            <a:r>
              <a:rPr dirty="0" sz="2200" spc="-125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display.</a:t>
            </a:r>
            <a:endParaRPr sz="2200">
              <a:latin typeface="Arial"/>
              <a:cs typeface="Arial"/>
            </a:endParaRPr>
          </a:p>
          <a:p>
            <a:pPr marL="323215" indent="-310515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323215" algn="l"/>
              </a:tabLst>
            </a:pPr>
            <a:r>
              <a:rPr dirty="0" sz="2200" i="1">
                <a:latin typeface="Arial"/>
                <a:cs typeface="Arial"/>
              </a:rPr>
              <a:t>Supports</a:t>
            </a:r>
            <a:r>
              <a:rPr dirty="0" sz="2200" spc="-125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multiple</a:t>
            </a:r>
            <a:r>
              <a:rPr dirty="0" sz="2200" spc="-105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questions</a:t>
            </a:r>
            <a:r>
              <a:rPr dirty="0" sz="2200" spc="-140" i="1">
                <a:latin typeface="Arial"/>
                <a:cs typeface="Arial"/>
              </a:rPr>
              <a:t> </a:t>
            </a:r>
            <a:r>
              <a:rPr dirty="0" sz="2200" i="1">
                <a:latin typeface="Arial"/>
                <a:cs typeface="Arial"/>
              </a:rPr>
              <a:t>with</a:t>
            </a:r>
            <a:r>
              <a:rPr dirty="0" sz="2200" spc="-120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options.</a:t>
            </a:r>
            <a:endParaRPr sz="2200">
              <a:latin typeface="Arial"/>
              <a:cs typeface="Arial"/>
            </a:endParaRPr>
          </a:p>
          <a:p>
            <a:pPr marL="320040" indent="-30734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320040" algn="l"/>
              </a:tabLst>
            </a:pPr>
            <a:r>
              <a:rPr dirty="0" sz="2200" spc="-10" i="1">
                <a:latin typeface="Arial"/>
                <a:cs typeface="Arial"/>
              </a:rPr>
              <a:t>Enhances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spc="-35" i="1">
                <a:latin typeface="Arial"/>
                <a:cs typeface="Arial"/>
              </a:rPr>
              <a:t>problem-</a:t>
            </a:r>
            <a:r>
              <a:rPr dirty="0" sz="2200" i="1">
                <a:latin typeface="Arial"/>
                <a:cs typeface="Arial"/>
              </a:rPr>
              <a:t>solving</a:t>
            </a:r>
            <a:r>
              <a:rPr dirty="0" sz="2200" spc="-45" i="1"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skills.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14843" y="188112"/>
            <a:ext cx="1029931" cy="908913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8509761" y="6449423"/>
            <a:ext cx="30988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latin typeface="Arial MT"/>
                <a:cs typeface="Arial MT"/>
              </a:rPr>
              <a:t>05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095250"/>
            <a:ext cx="9144000" cy="763270"/>
          </a:xfrm>
          <a:custGeom>
            <a:avLst/>
            <a:gdLst/>
            <a:ahLst/>
            <a:cxnLst/>
            <a:rect l="l" t="t" r="r" b="b"/>
            <a:pathLst>
              <a:path w="9144000" h="763270">
                <a:moveTo>
                  <a:pt x="9144000" y="0"/>
                </a:moveTo>
                <a:lnTo>
                  <a:pt x="0" y="0"/>
                </a:lnTo>
                <a:lnTo>
                  <a:pt x="0" y="762749"/>
                </a:lnTo>
                <a:lnTo>
                  <a:pt x="9144000" y="76274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D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2016125"/>
            </a:xfrm>
            <a:custGeom>
              <a:avLst/>
              <a:gdLst/>
              <a:ahLst/>
              <a:cxnLst/>
              <a:rect l="l" t="t" r="r" b="b"/>
              <a:pathLst>
                <a:path w="9144000" h="2016125">
                  <a:moveTo>
                    <a:pt x="9144000" y="0"/>
                  </a:moveTo>
                  <a:lnTo>
                    <a:pt x="0" y="0"/>
                  </a:lnTo>
                  <a:lnTo>
                    <a:pt x="0" y="2015744"/>
                  </a:lnTo>
                  <a:lnTo>
                    <a:pt x="9144000" y="20157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15756"/>
              <a:ext cx="9143999" cy="484223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6094780"/>
              <a:ext cx="9144000" cy="12700"/>
            </a:xfrm>
            <a:custGeom>
              <a:avLst/>
              <a:gdLst/>
              <a:ahLst/>
              <a:cxnLst/>
              <a:rect l="l" t="t" r="r" b="b"/>
              <a:pathLst>
                <a:path w="9144000" h="12700">
                  <a:moveTo>
                    <a:pt x="9144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144000" y="1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05"/>
              </a:spcBef>
              <a:tabLst>
                <a:tab pos="805180" algn="l"/>
                <a:tab pos="6602095" algn="l"/>
              </a:tabLst>
            </a:pPr>
            <a:r>
              <a:rPr dirty="0"/>
              <a:t>	</a:t>
            </a:r>
            <a:r>
              <a:rPr dirty="0" spc="-10"/>
              <a:t>METHODOLOGY</a:t>
            </a:r>
            <a:r>
              <a:rPr dirty="0"/>
              <a:t>	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1241" y="2317368"/>
            <a:ext cx="6203315" cy="3789679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u="sng" sz="24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Steps</a:t>
            </a:r>
            <a:r>
              <a:rPr dirty="0" u="sng" sz="2400" spc="-10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included</a:t>
            </a:r>
            <a:r>
              <a:rPr dirty="0" u="sng" sz="2400" spc="-7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:-</a:t>
            </a:r>
            <a:endParaRPr sz="2400">
              <a:latin typeface="Arial"/>
              <a:cs typeface="Arial"/>
            </a:endParaRPr>
          </a:p>
          <a:p>
            <a:pPr marL="195580" marR="869315" indent="-183515">
              <a:lnSpc>
                <a:spcPct val="110400"/>
              </a:lnSpc>
              <a:spcBef>
                <a:spcPts val="95"/>
              </a:spcBef>
              <a:buChar char="•"/>
              <a:tabLst>
                <a:tab pos="239395" algn="l"/>
              </a:tabLst>
            </a:pP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7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program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loads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7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set</a:t>
            </a:r>
            <a:r>
              <a:rPr dirty="0" sz="2400" spc="-8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of</a:t>
            </a:r>
            <a:r>
              <a:rPr dirty="0" sz="2400" spc="-8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predefined 	questions.</a:t>
            </a:r>
            <a:endParaRPr sz="2400">
              <a:latin typeface="Arial"/>
              <a:cs typeface="Arial"/>
            </a:endParaRPr>
          </a:p>
          <a:p>
            <a:pPr marL="192405" marR="5080" indent="-180340">
              <a:lnSpc>
                <a:spcPct val="110400"/>
              </a:lnSpc>
              <a:spcBef>
                <a:spcPts val="1000"/>
              </a:spcBef>
              <a:buChar char="•"/>
              <a:tabLst>
                <a:tab pos="239395" algn="l"/>
              </a:tabLst>
            </a:pPr>
            <a:r>
              <a:rPr dirty="0" sz="2400" spc="-70" i="1">
                <a:latin typeface="Arial"/>
                <a:cs typeface="Arial"/>
              </a:rPr>
              <a:t>The</a:t>
            </a:r>
            <a:r>
              <a:rPr dirty="0" sz="2400" spc="-1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user</a:t>
            </a:r>
            <a:r>
              <a:rPr dirty="0" sz="2400" spc="-1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reads</a:t>
            </a:r>
            <a:r>
              <a:rPr dirty="0" sz="2400" spc="-1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each</a:t>
            </a:r>
            <a:r>
              <a:rPr dirty="0" sz="2400" spc="-11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question</a:t>
            </a:r>
            <a:r>
              <a:rPr dirty="0" sz="2400" spc="-8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10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selects</a:t>
            </a:r>
            <a:r>
              <a:rPr dirty="0" sz="2400" spc="-85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an </a:t>
            </a:r>
            <a:r>
              <a:rPr dirty="0" sz="2400" spc="-25" i="1">
                <a:latin typeface="Arial"/>
                <a:cs typeface="Arial"/>
              </a:rPr>
              <a:t>	</a:t>
            </a:r>
            <a:r>
              <a:rPr dirty="0" sz="2400" spc="-10" i="1">
                <a:latin typeface="Arial"/>
                <a:cs typeface="Arial"/>
              </a:rPr>
              <a:t>option.</a:t>
            </a:r>
            <a:endParaRPr sz="2400">
              <a:latin typeface="Arial"/>
              <a:cs typeface="Arial"/>
            </a:endParaRPr>
          </a:p>
          <a:p>
            <a:pPr marL="194310" indent="-181610">
              <a:lnSpc>
                <a:spcPct val="100000"/>
              </a:lnSpc>
              <a:spcBef>
                <a:spcPts val="1310"/>
              </a:spcBef>
              <a:buChar char="•"/>
              <a:tabLst>
                <a:tab pos="194310" algn="l"/>
              </a:tabLst>
            </a:pP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program</a:t>
            </a:r>
            <a:r>
              <a:rPr dirty="0" sz="2400" spc="-9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checks</a:t>
            </a:r>
            <a:r>
              <a:rPr dirty="0" sz="2400" spc="-9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if</a:t>
            </a:r>
            <a:r>
              <a:rPr dirty="0" sz="2400" spc="-1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1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answer</a:t>
            </a:r>
            <a:r>
              <a:rPr dirty="0" sz="2400" spc="-7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10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correct.</a:t>
            </a:r>
            <a:endParaRPr sz="2400">
              <a:latin typeface="Arial"/>
              <a:cs typeface="Arial"/>
            </a:endParaRPr>
          </a:p>
          <a:p>
            <a:pPr marL="193040" indent="-180340">
              <a:lnSpc>
                <a:spcPct val="100000"/>
              </a:lnSpc>
              <a:spcBef>
                <a:spcPts val="1295"/>
              </a:spcBef>
              <a:buChar char="•"/>
              <a:tabLst>
                <a:tab pos="193040" algn="l"/>
              </a:tabLst>
            </a:pPr>
            <a:r>
              <a:rPr dirty="0" sz="2400" i="1">
                <a:latin typeface="Arial"/>
                <a:cs typeface="Arial"/>
              </a:rPr>
              <a:t>Score</a:t>
            </a:r>
            <a:r>
              <a:rPr dirty="0" sz="2400" spc="-1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increases</a:t>
            </a:r>
            <a:r>
              <a:rPr dirty="0" sz="2400" spc="-9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with</a:t>
            </a:r>
            <a:r>
              <a:rPr dirty="0" sz="2400" spc="-1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each</a:t>
            </a:r>
            <a:r>
              <a:rPr dirty="0" sz="2400" spc="-1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right</a:t>
            </a:r>
            <a:r>
              <a:rPr dirty="0" sz="2400" spc="-14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answer.</a:t>
            </a:r>
            <a:endParaRPr sz="2400">
              <a:latin typeface="Arial"/>
              <a:cs typeface="Arial"/>
            </a:endParaRPr>
          </a:p>
          <a:p>
            <a:pPr marL="193040" indent="-180340">
              <a:lnSpc>
                <a:spcPct val="100000"/>
              </a:lnSpc>
              <a:spcBef>
                <a:spcPts val="1295"/>
              </a:spcBef>
              <a:buChar char="•"/>
              <a:tabLst>
                <a:tab pos="193040" algn="l"/>
              </a:tabLst>
            </a:pPr>
            <a:r>
              <a:rPr dirty="0" sz="2400" i="1">
                <a:latin typeface="Arial"/>
                <a:cs typeface="Arial"/>
              </a:rPr>
              <a:t>Final</a:t>
            </a:r>
            <a:r>
              <a:rPr dirty="0" sz="2400" spc="-9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performance</a:t>
            </a:r>
            <a:r>
              <a:rPr dirty="0" sz="2400" spc="-8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1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displayed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at</a:t>
            </a:r>
            <a:r>
              <a:rPr dirty="0" sz="2400" spc="-1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135" i="1">
                <a:latin typeface="Arial"/>
                <a:cs typeface="Arial"/>
              </a:rPr>
              <a:t> </a:t>
            </a:r>
            <a:r>
              <a:rPr dirty="0" sz="2400" spc="-20" i="1">
                <a:latin typeface="Arial"/>
                <a:cs typeface="Arial"/>
              </a:rPr>
              <a:t>end.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93633" y="188112"/>
            <a:ext cx="1029931" cy="90891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742680" y="6450003"/>
            <a:ext cx="309245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latin typeface="Arial MT"/>
                <a:cs typeface="Arial MT"/>
              </a:rPr>
              <a:t>06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290" y="6147597"/>
            <a:ext cx="9131935" cy="710565"/>
          </a:xfrm>
          <a:custGeom>
            <a:avLst/>
            <a:gdLst/>
            <a:ahLst/>
            <a:cxnLst/>
            <a:rect l="l" t="t" r="r" b="b"/>
            <a:pathLst>
              <a:path w="9131935" h="710565">
                <a:moveTo>
                  <a:pt x="9131709" y="0"/>
                </a:moveTo>
                <a:lnTo>
                  <a:pt x="0" y="0"/>
                </a:lnTo>
                <a:lnTo>
                  <a:pt x="0" y="710402"/>
                </a:lnTo>
                <a:lnTo>
                  <a:pt x="9131709" y="710402"/>
                </a:lnTo>
                <a:lnTo>
                  <a:pt x="9131709" y="0"/>
                </a:lnTo>
                <a:close/>
              </a:path>
            </a:pathLst>
          </a:custGeom>
          <a:solidFill>
            <a:srgbClr val="FFFFD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2290" y="52323"/>
            <a:ext cx="9131935" cy="6805930"/>
            <a:chOff x="12290" y="52323"/>
            <a:chExt cx="9131935" cy="6805930"/>
          </a:xfrm>
        </p:grpSpPr>
        <p:sp>
          <p:nvSpPr>
            <p:cNvPr id="4" name="object 4" descr=""/>
            <p:cNvSpPr/>
            <p:nvPr/>
          </p:nvSpPr>
          <p:spPr>
            <a:xfrm>
              <a:off x="12290" y="52323"/>
              <a:ext cx="9131935" cy="2016125"/>
            </a:xfrm>
            <a:custGeom>
              <a:avLst/>
              <a:gdLst/>
              <a:ahLst/>
              <a:cxnLst/>
              <a:rect l="l" t="t" r="r" b="b"/>
              <a:pathLst>
                <a:path w="9131935" h="2016125">
                  <a:moveTo>
                    <a:pt x="9131709" y="0"/>
                  </a:moveTo>
                  <a:lnTo>
                    <a:pt x="0" y="0"/>
                  </a:lnTo>
                  <a:lnTo>
                    <a:pt x="0" y="2015743"/>
                  </a:lnTo>
                  <a:lnTo>
                    <a:pt x="9131709" y="2015743"/>
                  </a:lnTo>
                  <a:lnTo>
                    <a:pt x="9131709" y="0"/>
                  </a:lnTo>
                  <a:close/>
                </a:path>
              </a:pathLst>
            </a:custGeom>
            <a:solidFill>
              <a:srgbClr val="FFFF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90" y="2068106"/>
              <a:ext cx="9131681" cy="478989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2290" y="6147130"/>
              <a:ext cx="9131935" cy="12700"/>
            </a:xfrm>
            <a:custGeom>
              <a:avLst/>
              <a:gdLst/>
              <a:ahLst/>
              <a:cxnLst/>
              <a:rect l="l" t="t" r="r" b="b"/>
              <a:pathLst>
                <a:path w="9131935" h="12700">
                  <a:moveTo>
                    <a:pt x="9131709" y="0"/>
                  </a:moveTo>
                  <a:lnTo>
                    <a:pt x="0" y="0"/>
                  </a:lnTo>
                  <a:lnTo>
                    <a:pt x="0" y="12699"/>
                  </a:lnTo>
                  <a:lnTo>
                    <a:pt x="9131709" y="12699"/>
                  </a:lnTo>
                  <a:lnTo>
                    <a:pt x="91317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3633" y="188112"/>
              <a:ext cx="1029931" cy="90891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821" y="419862"/>
            <a:ext cx="659701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83680" algn="l"/>
              </a:tabLst>
            </a:pPr>
            <a:r>
              <a:rPr dirty="0" spc="10"/>
              <a:t> </a:t>
            </a:r>
            <a:r>
              <a:rPr dirty="0"/>
              <a:t>RESULT</a:t>
            </a:r>
            <a:r>
              <a:rPr dirty="0" spc="-40"/>
              <a:t> </a:t>
            </a:r>
            <a:r>
              <a:rPr dirty="0" spc="-10"/>
              <a:t>ANALYSIS</a:t>
            </a:r>
            <a:r>
              <a:rPr dirty="0"/>
              <a:t>	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113792" y="1187830"/>
            <a:ext cx="8855710" cy="5410200"/>
            <a:chOff x="113792" y="1187830"/>
            <a:chExt cx="8855710" cy="5410200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1434" y="3581425"/>
              <a:ext cx="7147814" cy="301650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792" y="1187830"/>
              <a:ext cx="6248400" cy="2789428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8663431" y="6603014"/>
            <a:ext cx="309245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solidFill>
                  <a:srgbClr val="0D0D0D"/>
                </a:solidFill>
                <a:latin typeface="Arial MT"/>
                <a:cs typeface="Arial MT"/>
              </a:rPr>
              <a:t>07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095250"/>
            <a:ext cx="9144000" cy="763270"/>
          </a:xfrm>
          <a:custGeom>
            <a:avLst/>
            <a:gdLst/>
            <a:ahLst/>
            <a:cxnLst/>
            <a:rect l="l" t="t" r="r" b="b"/>
            <a:pathLst>
              <a:path w="9144000" h="763270">
                <a:moveTo>
                  <a:pt x="9144000" y="0"/>
                </a:moveTo>
                <a:lnTo>
                  <a:pt x="0" y="0"/>
                </a:lnTo>
                <a:lnTo>
                  <a:pt x="0" y="762749"/>
                </a:lnTo>
                <a:lnTo>
                  <a:pt x="9144000" y="76274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D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2016125"/>
            </a:xfrm>
            <a:custGeom>
              <a:avLst/>
              <a:gdLst/>
              <a:ahLst/>
              <a:cxnLst/>
              <a:rect l="l" t="t" r="r" b="b"/>
              <a:pathLst>
                <a:path w="9144000" h="2016125">
                  <a:moveTo>
                    <a:pt x="9144000" y="0"/>
                  </a:moveTo>
                  <a:lnTo>
                    <a:pt x="0" y="0"/>
                  </a:lnTo>
                  <a:lnTo>
                    <a:pt x="0" y="2015744"/>
                  </a:lnTo>
                  <a:lnTo>
                    <a:pt x="9144000" y="20157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15756"/>
              <a:ext cx="9143999" cy="484223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6094780"/>
              <a:ext cx="9144000" cy="12700"/>
            </a:xfrm>
            <a:custGeom>
              <a:avLst/>
              <a:gdLst/>
              <a:ahLst/>
              <a:cxnLst/>
              <a:rect l="l" t="t" r="r" b="b"/>
              <a:pathLst>
                <a:path w="9144000" h="12700">
                  <a:moveTo>
                    <a:pt x="9144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144000" y="1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3633" y="188112"/>
              <a:ext cx="1029931" cy="90891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0491" y="168986"/>
            <a:ext cx="658495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71615" algn="l"/>
              </a:tabLst>
            </a:pPr>
            <a:r>
              <a:rPr dirty="0"/>
              <a:t>RESULT</a:t>
            </a:r>
            <a:r>
              <a:rPr dirty="0" spc="-65"/>
              <a:t> </a:t>
            </a:r>
            <a:r>
              <a:rPr dirty="0" spc="-10"/>
              <a:t>ANALYSIS</a:t>
            </a:r>
            <a:r>
              <a:rPr dirty="0"/>
              <a:t>	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228600" y="1062355"/>
            <a:ext cx="8886825" cy="5073015"/>
            <a:chOff x="228600" y="1062355"/>
            <a:chExt cx="8886825" cy="5073015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" y="1062355"/>
              <a:ext cx="5410200" cy="252476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0900" y="2778417"/>
              <a:ext cx="7494270" cy="335635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8612251" y="6481398"/>
            <a:ext cx="309245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solidFill>
                  <a:srgbClr val="0D0D0D"/>
                </a:solidFill>
                <a:latin typeface="Arial MT"/>
                <a:cs typeface="Arial MT"/>
              </a:rPr>
              <a:t>08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-4762"/>
            <a:ext cx="9153525" cy="6867525"/>
            <a:chOff x="-4762" y="-4762"/>
            <a:chExt cx="9153525" cy="68675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14727"/>
              <a:ext cx="9144000" cy="408127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95250"/>
              <a:ext cx="9144000" cy="76274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20157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6857999"/>
                  </a:moveTo>
                  <a:lnTo>
                    <a:pt x="9144000" y="6857999"/>
                  </a:lnTo>
                  <a:lnTo>
                    <a:pt x="9144000" y="6095249"/>
                  </a:lnTo>
                  <a:lnTo>
                    <a:pt x="0" y="6095249"/>
                  </a:lnTo>
                  <a:lnTo>
                    <a:pt x="0" y="6857999"/>
                  </a:lnTo>
                  <a:close/>
                </a:path>
                <a:path w="9144000" h="6858000">
                  <a:moveTo>
                    <a:pt x="0" y="2015744"/>
                  </a:moveTo>
                  <a:lnTo>
                    <a:pt x="9144000" y="20157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5744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987295"/>
              <a:ext cx="9144000" cy="417880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2015756"/>
              <a:ext cx="9144000" cy="407949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62" y="2010994"/>
              <a:ext cx="9143365" cy="0"/>
            </a:xfrm>
            <a:custGeom>
              <a:avLst/>
              <a:gdLst/>
              <a:ahLst/>
              <a:cxnLst/>
              <a:rect l="l" t="t" r="r" b="b"/>
              <a:pathLst>
                <a:path w="9143365" h="0">
                  <a:moveTo>
                    <a:pt x="9143238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6065523"/>
              <a:ext cx="9143999" cy="2972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6095246"/>
              <a:ext cx="9144000" cy="7627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6070091"/>
              <a:ext cx="9143999" cy="10369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6094780"/>
              <a:ext cx="9144000" cy="1270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0" y="6094780"/>
              <a:ext cx="9144000" cy="12700"/>
            </a:xfrm>
            <a:custGeom>
              <a:avLst/>
              <a:gdLst/>
              <a:ahLst/>
              <a:cxnLst/>
              <a:rect l="l" t="t" r="r" b="b"/>
              <a:pathLst>
                <a:path w="9144000" h="12700">
                  <a:moveTo>
                    <a:pt x="0" y="12700"/>
                  </a:moveTo>
                  <a:lnTo>
                    <a:pt x="9144000" y="127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344802" y="1425651"/>
            <a:ext cx="6597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06144" algn="l"/>
                <a:tab pos="6583680" algn="l"/>
              </a:tabLst>
            </a:pPr>
            <a:r>
              <a:rPr dirty="0"/>
              <a:t>	</a:t>
            </a:r>
            <a:r>
              <a:rPr dirty="0" spc="-10"/>
              <a:t>CONCLUSION</a:t>
            </a:r>
            <a:r>
              <a:rPr dirty="0"/>
              <a:t>	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1687448" y="2199512"/>
            <a:ext cx="5954395" cy="3360420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395"/>
              </a:spcBef>
              <a:buChar char="•"/>
              <a:tabLst>
                <a:tab pos="194310" algn="l"/>
              </a:tabLst>
            </a:pP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1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quiz</a:t>
            </a:r>
            <a:r>
              <a:rPr dirty="0" sz="2400" spc="-9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game</a:t>
            </a:r>
            <a:r>
              <a:rPr dirty="0" sz="2400" spc="-8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1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</a:t>
            </a:r>
            <a:r>
              <a:rPr dirty="0" sz="2400" spc="-1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effective</a:t>
            </a:r>
            <a:r>
              <a:rPr dirty="0" sz="2400" spc="-1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learning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tool.</a:t>
            </a:r>
            <a:endParaRPr sz="2400">
              <a:latin typeface="Arial"/>
              <a:cs typeface="Arial"/>
            </a:endParaRPr>
          </a:p>
          <a:p>
            <a:pPr marL="191135" marR="908050" indent="-178435">
              <a:lnSpc>
                <a:spcPct val="1104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dirty="0" sz="2400" spc="-10" i="1">
                <a:latin typeface="Arial"/>
                <a:cs typeface="Arial"/>
              </a:rPr>
              <a:t>Encourages</a:t>
            </a:r>
            <a:r>
              <a:rPr dirty="0" sz="2400" spc="-1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quick</a:t>
            </a:r>
            <a:r>
              <a:rPr dirty="0" sz="2400" spc="-1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thinking</a:t>
            </a:r>
            <a:r>
              <a:rPr dirty="0" sz="2400" spc="-9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13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topic 	revision.</a:t>
            </a:r>
            <a:endParaRPr sz="2400">
              <a:latin typeface="Arial"/>
              <a:cs typeface="Arial"/>
            </a:endParaRPr>
          </a:p>
          <a:p>
            <a:pPr marL="194310" indent="-181610">
              <a:lnSpc>
                <a:spcPct val="100000"/>
              </a:lnSpc>
              <a:spcBef>
                <a:spcPts val="1295"/>
              </a:spcBef>
              <a:buChar char="•"/>
              <a:tabLst>
                <a:tab pos="194310" algn="l"/>
              </a:tabLst>
            </a:pPr>
            <a:r>
              <a:rPr dirty="0" sz="2400" i="1">
                <a:latin typeface="Arial"/>
                <a:cs typeface="Arial"/>
              </a:rPr>
              <a:t>Simple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to</a:t>
            </a:r>
            <a:r>
              <a:rPr dirty="0" sz="2400" spc="-1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develop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114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easy</a:t>
            </a:r>
            <a:r>
              <a:rPr dirty="0" sz="2400" spc="-1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to</a:t>
            </a:r>
            <a:r>
              <a:rPr dirty="0" sz="2400" spc="-1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present</a:t>
            </a:r>
            <a:r>
              <a:rPr dirty="0" sz="2400" spc="-100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05"/>
              </a:spcBef>
            </a:pPr>
            <a:r>
              <a:rPr dirty="0" sz="2400" spc="-10" i="1">
                <a:latin typeface="Arial"/>
                <a:cs typeface="Arial"/>
              </a:rPr>
              <a:t>exams.</a:t>
            </a:r>
            <a:endParaRPr sz="2400">
              <a:latin typeface="Arial"/>
              <a:cs typeface="Arial"/>
            </a:endParaRPr>
          </a:p>
          <a:p>
            <a:pPr marL="193040" marR="303530" indent="-180340">
              <a:lnSpc>
                <a:spcPct val="1104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 sz="2400" spc="-10" i="1">
                <a:latin typeface="Arial"/>
                <a:cs typeface="Arial"/>
              </a:rPr>
              <a:t>Demonstrates</a:t>
            </a:r>
            <a:r>
              <a:rPr dirty="0" sz="2400" spc="-9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logic,</a:t>
            </a:r>
            <a:r>
              <a:rPr dirty="0" sz="2400" spc="-9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loops,</a:t>
            </a:r>
            <a:r>
              <a:rPr dirty="0" sz="2400" spc="-1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12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decision- </a:t>
            </a:r>
            <a:r>
              <a:rPr dirty="0" sz="2400" spc="-10" i="1">
                <a:latin typeface="Arial"/>
                <a:cs typeface="Arial"/>
              </a:rPr>
              <a:t>	</a:t>
            </a:r>
            <a:r>
              <a:rPr dirty="0" sz="2400" i="1">
                <a:latin typeface="Arial"/>
                <a:cs typeface="Arial"/>
              </a:rPr>
              <a:t>making</a:t>
            </a:r>
            <a:r>
              <a:rPr dirty="0" sz="2400" spc="-9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</a:t>
            </a:r>
            <a:r>
              <a:rPr dirty="0" sz="2400" spc="-14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programming.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14843" y="188112"/>
            <a:ext cx="1029931" cy="908913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8625331" y="6518583"/>
            <a:ext cx="309245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solidFill>
                  <a:srgbClr val="0D0D0D"/>
                </a:solidFill>
                <a:latin typeface="Arial MT"/>
                <a:cs typeface="Arial MT"/>
              </a:rPr>
              <a:t>09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94916"/>
              <a:ext cx="9144000" cy="416432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74664"/>
              <a:ext cx="9144000" cy="78333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74664"/>
              <a:ext cx="9144000" cy="9829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30527" y="1552447"/>
            <a:ext cx="659701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97255" algn="l"/>
                <a:tab pos="6583680" algn="l"/>
              </a:tabLst>
            </a:pPr>
            <a:r>
              <a:rPr dirty="0">
                <a:solidFill>
                  <a:srgbClr val="0D0D0D"/>
                </a:solidFill>
              </a:rPr>
              <a:t>	</a:t>
            </a:r>
            <a:r>
              <a:rPr dirty="0" spc="-10">
                <a:solidFill>
                  <a:srgbClr val="0D0D0D"/>
                </a:solidFill>
              </a:rPr>
              <a:t>REFERENCES</a:t>
            </a:r>
            <a:r>
              <a:rPr dirty="0">
                <a:solidFill>
                  <a:srgbClr val="0D0D0D"/>
                </a:solidFill>
              </a:rPr>
              <a:t>	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92531" rIns="0" bIns="0" rtlCol="0" vert="horz">
            <a:spAutoFit/>
          </a:bodyPr>
          <a:lstStyle/>
          <a:p>
            <a:pPr marL="57340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We</a:t>
            </a:r>
            <a:r>
              <a:rPr dirty="0" spc="-80"/>
              <a:t> </a:t>
            </a:r>
            <a:r>
              <a:rPr dirty="0"/>
              <a:t>have</a:t>
            </a:r>
            <a:r>
              <a:rPr dirty="0" spc="-60"/>
              <a:t> </a:t>
            </a:r>
            <a:r>
              <a:rPr dirty="0"/>
              <a:t>taken</a:t>
            </a:r>
            <a:r>
              <a:rPr dirty="0" spc="-70"/>
              <a:t> </a:t>
            </a:r>
            <a:r>
              <a:rPr dirty="0"/>
              <a:t>help</a:t>
            </a:r>
            <a:r>
              <a:rPr dirty="0" spc="-65"/>
              <a:t> </a:t>
            </a:r>
            <a:r>
              <a:rPr dirty="0"/>
              <a:t>from</a:t>
            </a:r>
            <a:r>
              <a:rPr dirty="0" spc="-90"/>
              <a:t> </a:t>
            </a:r>
            <a:r>
              <a:rPr dirty="0"/>
              <a:t>various</a:t>
            </a:r>
            <a:r>
              <a:rPr dirty="0" spc="-55"/>
              <a:t> </a:t>
            </a:r>
            <a:r>
              <a:rPr dirty="0"/>
              <a:t>online</a:t>
            </a:r>
            <a:r>
              <a:rPr dirty="0" spc="-40"/>
              <a:t> </a:t>
            </a:r>
            <a:r>
              <a:rPr dirty="0"/>
              <a:t>resources</a:t>
            </a:r>
            <a:r>
              <a:rPr dirty="0" spc="-65"/>
              <a:t> </a:t>
            </a:r>
            <a:r>
              <a:rPr dirty="0" spc="-25"/>
              <a:t>as </a:t>
            </a:r>
            <a:r>
              <a:rPr dirty="0"/>
              <a:t>well</a:t>
            </a:r>
            <a:r>
              <a:rPr dirty="0" spc="-35"/>
              <a:t> </a:t>
            </a:r>
            <a:r>
              <a:rPr dirty="0"/>
              <a:t>as</a:t>
            </a:r>
            <a:r>
              <a:rPr dirty="0" spc="-45"/>
              <a:t> </a:t>
            </a:r>
            <a:r>
              <a:rPr dirty="0"/>
              <a:t>Youtube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get</a:t>
            </a:r>
            <a:r>
              <a:rPr dirty="0" spc="-45"/>
              <a:t> </a:t>
            </a:r>
            <a:r>
              <a:rPr dirty="0"/>
              <a:t>our</a:t>
            </a:r>
            <a:r>
              <a:rPr dirty="0" spc="-50"/>
              <a:t> </a:t>
            </a:r>
            <a:r>
              <a:rPr dirty="0"/>
              <a:t>project</a:t>
            </a:r>
            <a:r>
              <a:rPr dirty="0" spc="-40"/>
              <a:t> </a:t>
            </a:r>
            <a:r>
              <a:rPr dirty="0" spc="-10"/>
              <a:t>done.</a:t>
            </a:r>
          </a:p>
          <a:p>
            <a:pPr marL="573405" marR="379095">
              <a:lnSpc>
                <a:spcPct val="100000"/>
              </a:lnSpc>
              <a:spcBef>
                <a:spcPts val="1390"/>
              </a:spcBef>
            </a:pPr>
            <a:r>
              <a:rPr dirty="0"/>
              <a:t>Websites</a:t>
            </a:r>
            <a:r>
              <a:rPr dirty="0" spc="-45"/>
              <a:t> </a:t>
            </a:r>
            <a:r>
              <a:rPr dirty="0"/>
              <a:t>like</a:t>
            </a:r>
            <a:r>
              <a:rPr dirty="0" spc="-35"/>
              <a:t> </a:t>
            </a:r>
            <a:r>
              <a:rPr dirty="0" spc="-10" i="0">
                <a:latin typeface="Arial MT"/>
                <a:cs typeface="Arial MT"/>
              </a:rPr>
              <a:t>cppreference.com</a:t>
            </a:r>
            <a:r>
              <a:rPr dirty="0" spc="-30" i="0">
                <a:latin typeface="Arial MT"/>
                <a:cs typeface="Arial MT"/>
              </a:rPr>
              <a:t> </a:t>
            </a:r>
            <a:r>
              <a:rPr dirty="0" i="0">
                <a:latin typeface="Arial MT"/>
                <a:cs typeface="Arial MT"/>
              </a:rPr>
              <a:t>or</a:t>
            </a:r>
            <a:r>
              <a:rPr dirty="0" spc="-45" i="0">
                <a:latin typeface="Arial MT"/>
                <a:cs typeface="Arial MT"/>
              </a:rPr>
              <a:t> </a:t>
            </a:r>
            <a:r>
              <a:rPr dirty="0" i="0">
                <a:latin typeface="Arial MT"/>
                <a:cs typeface="Arial MT"/>
              </a:rPr>
              <a:t>the</a:t>
            </a:r>
            <a:r>
              <a:rPr dirty="0" spc="-55" i="0">
                <a:latin typeface="Arial MT"/>
                <a:cs typeface="Arial MT"/>
              </a:rPr>
              <a:t> </a:t>
            </a:r>
            <a:r>
              <a:rPr dirty="0" i="0">
                <a:latin typeface="Arial MT"/>
                <a:cs typeface="Arial MT"/>
              </a:rPr>
              <a:t>C</a:t>
            </a:r>
            <a:r>
              <a:rPr dirty="0" spc="-45" i="0">
                <a:latin typeface="Arial MT"/>
                <a:cs typeface="Arial MT"/>
              </a:rPr>
              <a:t> </a:t>
            </a:r>
            <a:r>
              <a:rPr dirty="0" spc="-10" i="0">
                <a:latin typeface="Arial MT"/>
                <a:cs typeface="Arial MT"/>
              </a:rPr>
              <a:t>Standard </a:t>
            </a:r>
            <a:r>
              <a:rPr dirty="0" i="0">
                <a:latin typeface="Arial MT"/>
                <a:cs typeface="Arial MT"/>
              </a:rPr>
              <a:t>Library</a:t>
            </a:r>
            <a:r>
              <a:rPr dirty="0" spc="-70" i="0">
                <a:latin typeface="Arial MT"/>
                <a:cs typeface="Arial MT"/>
              </a:rPr>
              <a:t> </a:t>
            </a:r>
            <a:r>
              <a:rPr dirty="0" i="0">
                <a:latin typeface="Arial MT"/>
                <a:cs typeface="Arial MT"/>
              </a:rPr>
              <a:t>documentation</a:t>
            </a:r>
            <a:r>
              <a:rPr dirty="0" spc="-70" i="0">
                <a:latin typeface="Arial MT"/>
                <a:cs typeface="Arial MT"/>
              </a:rPr>
              <a:t> </a:t>
            </a:r>
            <a:r>
              <a:rPr dirty="0" i="0">
                <a:latin typeface="Arial MT"/>
                <a:cs typeface="Arial MT"/>
              </a:rPr>
              <a:t>pages,</a:t>
            </a:r>
            <a:r>
              <a:rPr dirty="0" spc="-55" i="0">
                <a:latin typeface="Arial MT"/>
                <a:cs typeface="Arial MT"/>
              </a:rPr>
              <a:t> </a:t>
            </a:r>
            <a:r>
              <a:rPr dirty="0" i="0">
                <a:latin typeface="Arial MT"/>
                <a:cs typeface="Arial MT"/>
              </a:rPr>
              <a:t>guided</a:t>
            </a:r>
            <a:r>
              <a:rPr dirty="0" spc="-65" i="0">
                <a:latin typeface="Arial MT"/>
                <a:cs typeface="Arial MT"/>
              </a:rPr>
              <a:t> </a:t>
            </a:r>
            <a:r>
              <a:rPr dirty="0" i="0">
                <a:latin typeface="Arial MT"/>
                <a:cs typeface="Arial MT"/>
              </a:rPr>
              <a:t>us</a:t>
            </a:r>
            <a:r>
              <a:rPr dirty="0" spc="-75" i="0">
                <a:latin typeface="Arial MT"/>
                <a:cs typeface="Arial MT"/>
              </a:rPr>
              <a:t> </a:t>
            </a:r>
            <a:r>
              <a:rPr dirty="0" i="0">
                <a:latin typeface="Arial MT"/>
                <a:cs typeface="Arial MT"/>
              </a:rPr>
              <a:t>a</a:t>
            </a:r>
            <a:r>
              <a:rPr dirty="0" spc="-90" i="0">
                <a:latin typeface="Arial MT"/>
                <a:cs typeface="Arial MT"/>
              </a:rPr>
              <a:t> </a:t>
            </a:r>
            <a:r>
              <a:rPr dirty="0" spc="-20" i="0">
                <a:latin typeface="Arial MT"/>
                <a:cs typeface="Arial MT"/>
              </a:rPr>
              <a:t>lot.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14843" y="188112"/>
            <a:ext cx="1029931" cy="90891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625331" y="6511268"/>
            <a:ext cx="309245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25">
                <a:solidFill>
                  <a:srgbClr val="0D0D0D"/>
                </a:solidFill>
                <a:latin typeface="Arial MT"/>
                <a:cs typeface="Arial MT"/>
              </a:rPr>
              <a:t>10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Kumar</dc:creator>
  <dc:title>QUIZ GAME PROJECT</dc:title>
  <dcterms:created xsi:type="dcterms:W3CDTF">2025-11-26T17:51:52Z</dcterms:created>
  <dcterms:modified xsi:type="dcterms:W3CDTF">2025-11-26T17:51:52Z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2025-11-26T00:00:00Z</vt:filetime>
  </property>
  <property fmtid="{D5CDD505-2E9C-101B-9397-08002B2CF9AE}" pid="5" name="Producer">
    <vt:lpwstr>Microsoft® PowerPoint® 2021</vt:lpwstr>
  </property>
</Properties>
</file>